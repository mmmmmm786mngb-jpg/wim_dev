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2075543" cy="495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86000"/>
            <a:ext cx="8572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>
                <a:solidFill>
                  <a:srgbClr val="33405C"/>
                </a:solidFill>
                <a:latin typeface="Segoe UI"/>
              </a:rPr>
              <a:t>Ускорение вечерних регламентных операций розничного ДУ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43300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2648A"/>
                </a:solidFill>
                <a:latin typeface="Segoe UI"/>
              </a:rPr>
              <a:t>Вынос расчета СЧА и РСА в отдельную группу 3 регламентных операций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71950"/>
            <a:ext cx="3238500" cy="40005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6800" y="428625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spc="60">
                <a:solidFill>
                  <a:srgbClr val="FFFFFF"/>
                </a:solidFill>
                <a:latin typeface="Segoe UI"/>
              </a:rPr>
              <a:t>Предложение на согласование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34000"/>
            <a:ext cx="6667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488"/>
                </a:solidFill>
                <a:latin typeface="Segoe UI"/>
              </a:rPr>
              <a:t>Задача:</a:t>
            </a:r>
            <a:r>
              <a:rPr sz="1200" b="0">
                <a:solidFill>
                  <a:srgbClr val="6A7488"/>
                </a:solidFill>
                <a:latin typeface="Segoe UI"/>
              </a:rPr>
              <a:t> IMDEV-8663, доработка 2 из 2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488"/>
                </a:solidFill>
                <a:latin typeface="Segoe UI"/>
              </a:rPr>
              <a:t>Кому:</a:t>
            </a:r>
            <a:r>
              <a:rPr sz="1200" b="0">
                <a:solidFill>
                  <a:srgbClr val="6A7488"/>
                </a:solidFill>
                <a:latin typeface="Segoe UI"/>
              </a:rPr>
              <a:t> Кукушкин В.Ю., Юрашева Ю.Ю.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488"/>
                </a:solidFill>
                <a:latin typeface="Segoe UI"/>
              </a:rPr>
              <a:t>Система:</a:t>
            </a:r>
            <a:r>
              <a:rPr sz="1200" b="0">
                <a:solidFill>
                  <a:srgbClr val="6A7488"/>
                </a:solidFill>
                <a:latin typeface="Segoe UI"/>
              </a:rPr>
              <a:t> база ДУ; новая группа 3. "Расчет СЧА/РСА"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7488"/>
                </a:solidFill>
                <a:latin typeface="Segoe UI"/>
              </a:rPr>
              <a:t>Дата:</a:t>
            </a:r>
            <a:r>
              <a:rPr sz="1200" b="0">
                <a:solidFill>
                  <a:srgbClr val="6A7488"/>
                </a:solidFill>
                <a:latin typeface="Segoe UI"/>
              </a:rPr>
              <a:t> 15 августа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О чем идет речь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2133600"/>
            <a:ext cx="3486150" cy="1238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21336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234315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Что оптимизируем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Группу регламентных операций </a:t>
            </a:r>
            <a:r>
              <a:rPr sz="1200" b="1">
                <a:solidFill>
                  <a:srgbClr val="33405C"/>
                </a:solidFill>
                <a:latin typeface="Segoe UI"/>
              </a:rPr>
              <a:t>"2. Вечерние операции"</a:t>
            </a:r>
            <a:r>
              <a:rPr sz="1200" b="0">
                <a:solidFill>
                  <a:srgbClr val="3A4358"/>
                </a:solidFill>
                <a:latin typeface="Segoe UI"/>
              </a:rPr>
              <a:t> по розничному доверительному управлению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925" y="2133600"/>
            <a:ext cx="3486150" cy="1238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52925" y="21336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62475" y="234315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Какой объем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Порядка </a:t>
            </a:r>
            <a:r>
              <a:rPr sz="1200" b="1">
                <a:solidFill>
                  <a:srgbClr val="33405C"/>
                </a:solidFill>
                <a:latin typeface="Segoe UI"/>
              </a:rPr>
              <a:t>22 000 договоров</a:t>
            </a:r>
            <a:r>
              <a:rPr sz="1200" b="0">
                <a:solidFill>
                  <a:srgbClr val="3A4358"/>
                </a:solidFill>
                <a:latin typeface="Segoe UI"/>
              </a:rPr>
              <a:t> в одном прогоне, и клиентская база продолжает расти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5300" y="2133600"/>
            <a:ext cx="3486150" cy="1238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15300" y="21336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4850" y="234315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Что считается тяжело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Два показателя: </a:t>
            </a:r>
            <a:r>
              <a:rPr sz="1200" b="1">
                <a:solidFill>
                  <a:srgbClr val="33405C"/>
                </a:solidFill>
                <a:latin typeface="Segoe UI"/>
              </a:rPr>
              <a:t>СЧА</a:t>
            </a:r>
            <a:r>
              <a:rPr sz="1200" b="0">
                <a:solidFill>
                  <a:srgbClr val="3A4358"/>
                </a:solidFill>
                <a:latin typeface="Segoe UI"/>
              </a:rPr>
              <a:t> — стоимость чистых активов и </a:t>
            </a:r>
            <a:r>
              <a:rPr sz="1200" b="1">
                <a:solidFill>
                  <a:srgbClr val="33405C"/>
                </a:solidFill>
                <a:latin typeface="Segoe UI"/>
              </a:rPr>
              <a:t>РСА</a:t>
            </a:r>
            <a:r>
              <a:rPr sz="1200" b="0">
                <a:solidFill>
                  <a:srgbClr val="3A4358"/>
                </a:solidFill>
                <a:latin typeface="Segoe UI"/>
              </a:rPr>
              <a:t> — размер собственных активов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550" y="4305300"/>
            <a:ext cx="11010900" cy="1238250"/>
          </a:xfrm>
          <a:prstGeom prst="rect">
            <a:avLst/>
          </a:prstGeom>
          <a:solidFill>
            <a:srgbClr val="FB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0550" y="4305300"/>
            <a:ext cx="47625" cy="123825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1050" y="4448175"/>
            <a:ext cx="106299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6E5313"/>
                </a:solidFill>
                <a:latin typeface="Segoe UI"/>
              </a:rPr>
              <a:t>Важное уточнение по терминологии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Название "вечерние операции" — историческое. Фактически эта группа запускается </a:t>
            </a:r>
            <a:r>
              <a:rPr sz="1275" b="1">
                <a:solidFill>
                  <a:srgbClr val="33405C"/>
                </a:solidFill>
                <a:latin typeface="Segoe UI"/>
              </a:rPr>
              <a:t>днем и обрабатывает предыдущий рабочий день</a:t>
            </a:r>
            <a:r>
              <a:rPr sz="1275" b="0">
                <a:solidFill>
                  <a:srgbClr val="3A4358"/>
                </a:solidFill>
                <a:latin typeface="Segoe UI"/>
              </a:rPr>
              <a:t>. Значит, длительный прогон нагружает базу в рабочие часы и отодвигает момент готовности данных за вчера.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64389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A8B1C4"/>
                </a:solidFill>
                <a:latin typeface="Segoe UI"/>
              </a:rPr>
              <a:t>Предложение по доработке. База ДУ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Сегодня показатели считаются отдельно по каждому договору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676400"/>
            <a:ext cx="18669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847850"/>
            <a:ext cx="16764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 1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5 тяжелых запросов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7450" y="194310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7000" y="1676400"/>
            <a:ext cx="18669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762250" y="1847850"/>
            <a:ext cx="16764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 2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5 тяжелых запросов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3900" y="194310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3450" y="1676400"/>
            <a:ext cx="18669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38700" y="1847850"/>
            <a:ext cx="16764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 3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5 тяжелых запросов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194310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9900" y="1676400"/>
            <a:ext cx="18669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15150" y="1847850"/>
            <a:ext cx="16764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 22 000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5 тяжелых запросов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6350" y="194310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=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5900" y="1676400"/>
            <a:ext cx="3086100" cy="742950"/>
          </a:xfrm>
          <a:prstGeom prst="rect">
            <a:avLst/>
          </a:prstGeom>
          <a:solidFill>
            <a:srgbClr val="F8ECEB"/>
          </a:solidFill>
          <a:ln w="9525">
            <a:solidFill>
              <a:srgbClr val="E3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01150" y="1809750"/>
            <a:ext cx="28956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A8423F"/>
                </a:solidFill>
                <a:latin typeface="Segoe UI"/>
              </a:rPr>
              <a:t>110 000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обращений к базе данных</a:t>
            </a:r>
          </a:p>
        </p:txBody>
      </p:sp>
      <p:sp>
        <p:nvSpPr>
          <p:cNvPr id="21" name="Oval 20"/>
          <p:cNvSpPr/>
          <p:nvPr/>
        </p:nvSpPr>
        <p:spPr>
          <a:xfrm>
            <a:off x="619125" y="2886075"/>
            <a:ext cx="76200" cy="76200"/>
          </a:xfrm>
          <a:prstGeom prst="ellipse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8675" y="2819400"/>
            <a:ext cx="56673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Каждое обращение — </a:t>
            </a:r>
            <a:r>
              <a:rPr sz="1275" b="1">
                <a:solidFill>
                  <a:srgbClr val="33405C"/>
                </a:solidFill>
                <a:latin typeface="Segoe UI"/>
              </a:rPr>
              <a:t>не справочный запрос, а расчет остатков на конец дня</a:t>
            </a:r>
            <a:r>
              <a:rPr sz="1275" b="0">
                <a:solidFill>
                  <a:srgbClr val="3A4358"/>
                </a:solidFill>
                <a:latin typeface="Segoe UI"/>
              </a:rPr>
              <a:t>: счета бухгалтерского учета плюс около 17 регистров управленческого учета.</a:t>
            </a:r>
          </a:p>
        </p:txBody>
      </p:sp>
      <p:sp>
        <p:nvSpPr>
          <p:cNvPr id="23" name="Oval 22"/>
          <p:cNvSpPr/>
          <p:nvPr/>
        </p:nvSpPr>
        <p:spPr>
          <a:xfrm>
            <a:off x="619125" y="3724275"/>
            <a:ext cx="76200" cy="76200"/>
          </a:xfrm>
          <a:prstGeom prst="ellipse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8675" y="3657600"/>
            <a:ext cx="56673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Одна и та же по своей сути работа выполняется </a:t>
            </a:r>
            <a:r>
              <a:rPr sz="1275" b="1">
                <a:solidFill>
                  <a:srgbClr val="33405C"/>
                </a:solidFill>
                <a:latin typeface="Segoe UI"/>
              </a:rPr>
              <a:t>22 000 раз</a:t>
            </a:r>
            <a:r>
              <a:rPr sz="1275" b="0">
                <a:solidFill>
                  <a:srgbClr val="3A4358"/>
                </a:solidFill>
                <a:latin typeface="Segoe UI"/>
              </a:rPr>
              <a:t>. База многократно перечитывает одни и те же таблицы.</a:t>
            </a:r>
          </a:p>
        </p:txBody>
      </p:sp>
      <p:sp>
        <p:nvSpPr>
          <p:cNvPr id="25" name="Oval 24"/>
          <p:cNvSpPr/>
          <p:nvPr/>
        </p:nvSpPr>
        <p:spPr>
          <a:xfrm>
            <a:off x="619125" y="4333875"/>
            <a:ext cx="76200" cy="76200"/>
          </a:xfrm>
          <a:prstGeom prst="ellipse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675" y="4267200"/>
            <a:ext cx="56673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Расчет идет </a:t>
            </a:r>
            <a:r>
              <a:rPr sz="1275" b="1">
                <a:solidFill>
                  <a:srgbClr val="33405C"/>
                </a:solidFill>
                <a:latin typeface="Segoe UI"/>
              </a:rPr>
              <a:t>в общей очереди операций</a:t>
            </a:r>
            <a:r>
              <a:rPr sz="1275" b="0">
                <a:solidFill>
                  <a:srgbClr val="3A4358"/>
                </a:solidFill>
                <a:latin typeface="Segoe UI"/>
              </a:rPr>
              <a:t> по договору, вперемешку с остальным закрытием.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2819400"/>
            <a:ext cx="3143250" cy="14287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591550" y="3219450"/>
            <a:ext cx="28765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300" b="1">
                <a:solidFill>
                  <a:srgbClr val="52648A"/>
                </a:solidFill>
                <a:latin typeface="Segoe UI"/>
              </a:rPr>
              <a:t>22 000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A7488"/>
                </a:solidFill>
                <a:latin typeface="Segoe UI"/>
              </a:rPr>
              <a:t>договоров в прогоне,
и число растет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550" y="4762500"/>
            <a:ext cx="11010900" cy="91440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0550" y="4762500"/>
            <a:ext cx="47625" cy="9144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1050" y="4905375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405C"/>
                </a:solidFill>
                <a:latin typeface="Segoe UI"/>
              </a:rPr>
              <a:t>Из чего состоят эти пять запросов на каждый договор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Параметры учетной политики договора, курсы валют, остатки по счетам бухгалтерского учета, остатки по регистрам управленческого учета и — при соответствующей настройке — справедливая стоимость незавершенных сделок.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Почему сейчас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Время прогона растет пропорционально числу договоров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2209800"/>
            <a:ext cx="3486150" cy="14287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22098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2419350"/>
            <a:ext cx="306705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Рост клиентской базы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Каждый новый договор добавляет прогону свою порцию времени. Зависимость линейная, потолка у нее нет.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925" y="2209800"/>
            <a:ext cx="3486150" cy="14287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52925" y="22098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62475" y="2419350"/>
            <a:ext cx="306705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Нагрузка в рабочие часы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Прогон идет днем, одновременно с работой пользователей: тяжелые запросы конкурируют с ними за ресурсы сервера.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5300" y="2209800"/>
            <a:ext cx="3486150" cy="14287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15300" y="2209800"/>
            <a:ext cx="34861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4850" y="2419350"/>
            <a:ext cx="306705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Позднее закрытие "вчера"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Чем дольше прогон, тем позже готовы показатели за предыдущий рабочий день и все, что от них зависит.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550" y="4400550"/>
            <a:ext cx="11010900" cy="1123950"/>
          </a:xfrm>
          <a:prstGeom prst="rect">
            <a:avLst/>
          </a:prstGeom>
          <a:solidFill>
            <a:srgbClr val="F8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0550" y="4400550"/>
            <a:ext cx="47625" cy="1123950"/>
          </a:xfrm>
          <a:prstGeom prst="rect">
            <a:avLst/>
          </a:prstGeom>
          <a:solidFill>
            <a:srgbClr val="A8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1050" y="4543425"/>
            <a:ext cx="10629900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8423F"/>
                </a:solidFill>
                <a:latin typeface="Segoe UI"/>
              </a:rPr>
              <a:t>Вывод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Дело не только в том, что прогон долгий. Текущая схема расчета </a:t>
            </a:r>
            <a:r>
              <a:rPr sz="1275" b="1">
                <a:solidFill>
                  <a:srgbClr val="33405C"/>
                </a:solidFill>
                <a:latin typeface="Segoe UI"/>
              </a:rPr>
              <a:t>ограничивает дальнейший рост розничного ДУ</a:t>
            </a:r>
            <a:r>
              <a:rPr sz="1275" b="0">
                <a:solidFill>
                  <a:srgbClr val="3A4358"/>
                </a:solidFill>
                <a:latin typeface="Segoe UI"/>
              </a:rPr>
              <a:t>: при сохранении подхода время будет увеличиваться вместе с числом договоров.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10277475" y="276225"/>
            <a:ext cx="1384300" cy="4381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825" y="361950"/>
            <a:ext cx="11176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527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spc="200" cap="all">
                <a:solidFill>
                  <a:srgbClr val="8DB8C7"/>
                </a:solidFill>
                <a:latin typeface="Segoe UI"/>
              </a:rPr>
              <a:t>Ключевая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14650"/>
            <a:ext cx="8953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Segoe UI"/>
              </a:rPr>
              <a:t>Что мы предлагаем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8100"/>
            <a:ext cx="857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C9D3E0"/>
                </a:solidFill>
                <a:latin typeface="Segoe UI"/>
              </a:rPr>
              <a:t>Два решения, которые требуют вашего согласования. Первое меняет </a:t>
            </a:r>
            <a:r>
              <a:rPr sz="1725" b="1">
                <a:solidFill>
                  <a:srgbClr val="C9D3E0"/>
                </a:solidFill>
                <a:latin typeface="Segoe UI"/>
              </a:rPr>
              <a:t>момент</a:t>
            </a:r>
            <a:r>
              <a:rPr sz="1725" b="0">
                <a:solidFill>
                  <a:srgbClr val="C9D3E0"/>
                </a:solidFill>
                <a:latin typeface="Segoe UI"/>
              </a:rPr>
              <a:t> расчета, второе — </a:t>
            </a:r>
            <a:r>
              <a:rPr sz="1725" b="1">
                <a:solidFill>
                  <a:srgbClr val="C9D3E0"/>
                </a:solidFill>
                <a:latin typeface="Segoe UI"/>
              </a:rPr>
              <a:t>способ</a:t>
            </a:r>
            <a:r>
              <a:rPr sz="1725" b="0">
                <a:solidFill>
                  <a:srgbClr val="C9D3E0"/>
                </a:solidFill>
                <a:latin typeface="Segoe UI"/>
              </a:rPr>
              <a:t> расчета.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7C89A3"/>
                </a:solidFill>
                <a:latin typeface="Segoe U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Предложение 1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Вынести расчет показателей в отдельную группу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905000"/>
            <a:ext cx="66675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905000"/>
            <a:ext cx="57150" cy="41910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8200" y="2114550"/>
            <a:ext cx="61722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Что меняем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Сейчас этапов закрытия два: "1. Утренние операции" и "2. Вечерние операции". Добавляем третий — </a:t>
            </a:r>
            <a:r>
              <a:rPr sz="1200" b="1">
                <a:solidFill>
                  <a:srgbClr val="33405C"/>
                </a:solidFill>
                <a:latin typeface="Segoe UI"/>
              </a:rPr>
              <a:t>"3. Расчет СЧА/РСА"</a:t>
            </a:r>
            <a:r>
              <a:rPr sz="1200" b="0">
                <a:solidFill>
                  <a:srgbClr val="3A4358"/>
                </a:solidFill>
                <a:latin typeface="Segoe UI"/>
              </a:rPr>
              <a:t> — и переносим в него расчет показателей вместе со связанными контрольными операциями. Этап стартует после того, как все вечерние операции по всем договорам завершены.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Зачем это нужно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Показатели считаются по остаткам, которые формируются в ходе самого закрытия: переоценки, начисления, резервы. Посчитать их сразу по всем договорам можно только тогда, когда все эти операции уже завершены. </a:t>
            </a:r>
            <a:r>
              <a:rPr sz="1200" b="1">
                <a:solidFill>
                  <a:srgbClr val="33405C"/>
                </a:solidFill>
                <a:latin typeface="Segoe UI"/>
              </a:rPr>
              <a:t>Без отдельного этапа пакетный расчет технически невозможен.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05700" y="1905000"/>
            <a:ext cx="4095750" cy="4191000"/>
          </a:xfrm>
          <a:prstGeom prst="rect">
            <a:avLst/>
          </a:prstGeom>
          <a:solidFill>
            <a:srgbClr val="FEFCF6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505700" y="1905000"/>
            <a:ext cx="57150" cy="41910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53350" y="2114550"/>
            <a:ext cx="360045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75" b="1">
                <a:solidFill>
                  <a:srgbClr val="6E5313"/>
                </a:solidFill>
                <a:latin typeface="Segoe UI"/>
              </a:rPr>
              <a:t>Что именно согласовываем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B98A22"/>
                </a:solidFill>
                <a:latin typeface="Segoe UI"/>
              </a:rPr>
              <a:t>Появление третьего этапа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В списке групп регламентных операций добавится этап "3. Расчет СЧА/РСА".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B98A22"/>
                </a:solidFill>
                <a:latin typeface="Segoe UI"/>
              </a:rPr>
              <a:t>Третий документ плана за день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По договору будет три документа "План регламентных операций ДУ" вместо двух: утро, вечер, расчет показателей.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B98A22"/>
                </a:solidFill>
                <a:latin typeface="Segoe UI"/>
              </a:rPr>
              <a:t>Порядок запуска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Предлагаем автоматизировать: для оператора это остается одним действием.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Предложение 2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Считать показатели пакетно, по группам однотипных договоров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905000"/>
            <a:ext cx="74295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905000"/>
            <a:ext cx="57150" cy="41910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8200" y="2114550"/>
            <a:ext cx="69342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Что меняем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Вместо отдельного расчета по каждому договору система считает </a:t>
            </a:r>
            <a:r>
              <a:rPr sz="1200" b="1">
                <a:solidFill>
                  <a:srgbClr val="33405C"/>
                </a:solidFill>
                <a:latin typeface="Segoe UI"/>
              </a:rPr>
              <a:t>сразу по группе договоров с одинаковыми настройками учетной политики</a:t>
            </a:r>
            <a:r>
              <a:rPr sz="1200" b="0">
                <a:solidFill>
                  <a:srgbClr val="3A4358"/>
                </a:solidFill>
                <a:latin typeface="Segoe UI"/>
              </a:rPr>
              <a:t>, а затем раскладывает готовый результат по договорам.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Почему группами, а не все одним запросом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Состав данных зависит от параметров договора: ведется ли обособленный учет задолженности эмитента, как учитываются сделки РЕПО, к какому типу клиента относится портфель. Договоры с одинаковым набором параметров считать вместе можно, с разным — нельзя: результат исказится.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  <a:spcAft>
                <a:spcPts val="400"/>
              </a:spcAft>
            </a:pPr>
            <a:r>
              <a:rPr sz="937" b="1" spc="80" cap="all">
                <a:solidFill>
                  <a:srgbClr val="52648A"/>
                </a:solidFill>
                <a:latin typeface="Segoe UI"/>
              </a:rPr>
              <a:t>Что это дает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Розничные портфели настроены однотипно, поэтому вместо 22 000 отдельных расчетов система выполнит </a:t>
            </a:r>
            <a:r>
              <a:rPr sz="1200" b="1">
                <a:solidFill>
                  <a:srgbClr val="33405C"/>
                </a:solidFill>
                <a:latin typeface="Segoe UI"/>
              </a:rPr>
              <a:t>несколько групповых запросов</a:t>
            </a:r>
            <a:r>
              <a:rPr sz="1200" b="0">
                <a:solidFill>
                  <a:srgbClr val="3A4358"/>
                </a:solidFill>
                <a:latin typeface="Segoe UI"/>
              </a:rPr>
              <a:t>. Логика расчета остается той же — меняется только объем данных за одно обращение.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5800" y="1905000"/>
            <a:ext cx="3295650" cy="12192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305800" y="1905000"/>
            <a:ext cx="3295650" cy="38100"/>
          </a:xfrm>
          <a:prstGeom prst="rect">
            <a:avLst/>
          </a:prstGeom>
          <a:solidFill>
            <a:srgbClr val="A8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39150" y="2238375"/>
            <a:ext cx="3028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300" b="1">
                <a:solidFill>
                  <a:srgbClr val="A8423F"/>
                </a:solidFill>
                <a:latin typeface="Segoe UI"/>
              </a:rPr>
              <a:t>110 000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A7488"/>
                </a:solidFill>
                <a:latin typeface="Segoe UI"/>
              </a:rPr>
              <a:t>обращений к базе
по этому блоку сейчас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05800" y="3295650"/>
            <a:ext cx="3295650" cy="12192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305800" y="3295650"/>
            <a:ext cx="3295650" cy="381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39150" y="3629025"/>
            <a:ext cx="3028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300" b="1">
                <a:solidFill>
                  <a:srgbClr val="2E7D64"/>
                </a:solidFill>
                <a:latin typeface="Segoe UI"/>
              </a:rPr>
              <a:t>десятки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A7488"/>
                </a:solidFill>
                <a:latin typeface="Segoe UI"/>
              </a:rPr>
              <a:t>обращений к базе
после доработки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5800" y="4686300"/>
            <a:ext cx="3295650" cy="1409700"/>
          </a:xfrm>
          <a:prstGeom prst="rect">
            <a:avLst/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305800" y="4686300"/>
            <a:ext cx="47625" cy="14097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96300" y="4829175"/>
            <a:ext cx="2914650" cy="1162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24604F"/>
                </a:solidFill>
                <a:latin typeface="Segoe UI"/>
              </a:rPr>
              <a:t>Что согласовываем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Подход и критерий приемки: суммы должны совпасть с текущими </a:t>
            </a:r>
            <a:r>
              <a:rPr sz="1200" b="1">
                <a:solidFill>
                  <a:srgbClr val="33405C"/>
                </a:solidFill>
                <a:latin typeface="Segoe UI"/>
              </a:rPr>
              <a:t>полностью, до копейки</a:t>
            </a:r>
            <a:r>
              <a:rPr sz="1200" b="0">
                <a:solidFill>
                  <a:srgbClr val="3A435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Схема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Как есть и как будет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16954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spc="100" cap="all">
                <a:solidFill>
                  <a:srgbClr val="6A7488"/>
                </a:solidFill>
                <a:latin typeface="Segoe UI"/>
              </a:rPr>
              <a:t>Как есть: расчет внутри общей очереди по каждому договору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550" y="2000250"/>
            <a:ext cx="16764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04850" y="2152650"/>
            <a:ext cx="1447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Договор 1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операции закрытия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6950" y="22669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000250"/>
            <a:ext cx="1676400" cy="742950"/>
          </a:xfrm>
          <a:prstGeom prst="rect">
            <a:avLst/>
          </a:prstGeom>
          <a:solidFill>
            <a:srgbClr val="F8ECEB"/>
          </a:solidFill>
          <a:ln w="9525">
            <a:solidFill>
              <a:srgbClr val="E3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28900" y="2152650"/>
            <a:ext cx="1447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Договор 1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расчет СЧА/РСА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22669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8650" y="2000250"/>
            <a:ext cx="1676400" cy="7429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2950" y="2152650"/>
            <a:ext cx="1447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Договор 2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операции закрытия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5050" y="22669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62700" y="2000250"/>
            <a:ext cx="1676400" cy="742950"/>
          </a:xfrm>
          <a:prstGeom prst="rect">
            <a:avLst/>
          </a:prstGeom>
          <a:solidFill>
            <a:srgbClr val="F8ECEB"/>
          </a:solidFill>
          <a:ln w="9525">
            <a:solidFill>
              <a:srgbClr val="E3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77000" y="2152650"/>
            <a:ext cx="14478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Договор 2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расчет СЧА/РСА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9100" y="226695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20100" y="2000250"/>
            <a:ext cx="1600200" cy="742950"/>
          </a:xfrm>
          <a:prstGeom prst="rect">
            <a:avLst/>
          </a:prstGeom>
          <a:solidFill>
            <a:srgbClr val="F8ECEB"/>
          </a:solidFill>
          <a:ln w="9525">
            <a:solidFill>
              <a:srgbClr val="E3C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34400" y="2152650"/>
            <a:ext cx="13716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x 22 000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договоров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320040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spc="100" cap="all">
                <a:solidFill>
                  <a:srgbClr val="6A7488"/>
                </a:solidFill>
                <a:latin typeface="Segoe UI"/>
              </a:rPr>
              <a:t>Как будет: два этапа, расчет один раз на всех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550" y="3505200"/>
            <a:ext cx="3390900" cy="8763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4850" y="3657600"/>
            <a:ext cx="316230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Этап 2. Вечерние операции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все операции закрытия по всем 22 000 договоров, как сейчас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1450" y="38290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9100" y="3505200"/>
            <a:ext cx="3390900" cy="876300"/>
          </a:xfrm>
          <a:prstGeom prst="rect">
            <a:avLst/>
          </a:prstGeom>
          <a:solidFill>
            <a:srgbClr val="E7F2EE"/>
          </a:solidFill>
          <a:ln w="9525">
            <a:solidFill>
              <a:srgbClr val="C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43400" y="3657600"/>
            <a:ext cx="316230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Этап 3. Расчет СЧА/РСА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групповой расчет показателей сразу по всем договорам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0" y="3829050"/>
            <a:ext cx="2476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B1C4"/>
                </a:solidFill>
                <a:latin typeface="Segoe UI"/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7650" y="3505200"/>
            <a:ext cx="3390900" cy="8763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981950" y="3657600"/>
            <a:ext cx="316230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33405C"/>
                </a:solidFill>
                <a:latin typeface="Segoe UI"/>
              </a:rPr>
              <a:t>Запись документов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те же документы по каждому договору, с той же датой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550" y="4762500"/>
            <a:ext cx="11010900" cy="91440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90550" y="4762500"/>
            <a:ext cx="47625" cy="9144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1050" y="4905375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Порядок операций внутри этапа сохраняется, зависимости между расчетом показателей и контрольными операциями не нарушаются. Меняется только момент и способ получения данных.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Границы изменений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Что при этом не меняется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9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8097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2000" y="19812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Методика расчета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Формулы, состав счетов и регистров, правила исключения и вычитания — тот же алгоритм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5300" y="18097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76750" y="19812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Суммы показателей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Результат совпадает до копейки. Это критерий приемки работ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0050" y="18097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91500" y="19812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Документы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Те же документы по каждому договору, с той же датой и временем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550" y="30670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2000" y="32385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Справка-расчет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Тот же состав и та же детализация по показателям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5300" y="30670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76750" y="32385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Отчетность в Банк России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Источник данных и его содержимое не меняются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0050" y="3067050"/>
            <a:ext cx="3581400" cy="1123950"/>
          </a:xfrm>
          <a:prstGeom prst="rect">
            <a:avLst/>
          </a:prstGeom>
          <a:solidFill>
            <a:srgbClr val="E7F2EE"/>
          </a:solidFill>
          <a:ln w="9525">
            <a:solidFill>
              <a:srgbClr val="C9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91500" y="3238500"/>
            <a:ext cx="3238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37" b="1">
                <a:solidFill>
                  <a:srgbClr val="24604F"/>
                </a:solidFill>
                <a:latin typeface="Segoe UI"/>
              </a:rPr>
              <a:t>Права и интерфейсы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E5A52"/>
                </a:solidFill>
                <a:latin typeface="Segoe UI"/>
              </a:rPr>
              <a:t>Роли, права доступа и формы отчетов не затрагиваются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550" y="4476750"/>
            <a:ext cx="11010900" cy="1066800"/>
          </a:xfrm>
          <a:prstGeom prst="rect">
            <a:avLst/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0550" y="4476750"/>
            <a:ext cx="47625" cy="10668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1050" y="4619625"/>
            <a:ext cx="10629900" cy="819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4604F"/>
                </a:solidFill>
                <a:latin typeface="Segoe UI"/>
              </a:rPr>
              <a:t>Это техническая оптимизация, а не изменение учета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Меняется </a:t>
            </a:r>
            <a:r>
              <a:rPr sz="1275" b="1">
                <a:solidFill>
                  <a:srgbClr val="33405C"/>
                </a:solidFill>
                <a:latin typeface="Segoe UI"/>
              </a:rPr>
              <a:t>когда</a:t>
            </a:r>
            <a:r>
              <a:rPr sz="1275" b="0">
                <a:solidFill>
                  <a:srgbClr val="3A4358"/>
                </a:solidFill>
                <a:latin typeface="Segoe UI"/>
              </a:rPr>
              <a:t> и </a:t>
            </a:r>
            <a:r>
              <a:rPr sz="1275" b="1">
                <a:solidFill>
                  <a:srgbClr val="33405C"/>
                </a:solidFill>
                <a:latin typeface="Segoe UI"/>
              </a:rPr>
              <a:t>каким запросом</a:t>
            </a:r>
            <a:r>
              <a:rPr sz="1275" b="0">
                <a:solidFill>
                  <a:srgbClr val="3A4358"/>
                </a:solidFill>
                <a:latin typeface="Segoe UI"/>
              </a:rPr>
              <a:t> система получает данные. Что она считает и что записывает — остается прежним.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Эксплуатация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Что изменится в ежедневной работе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10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1771650"/>
          <a:ext cx="1101090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03270"/>
                <a:gridCol w="770763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Что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Как будет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Список этапов закрытия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Появится третий этап — "3. Расчет СЧА/РСА"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Порядок запуска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Сначала вечерние операции, затем расчет показателей. Предлагаем автоматизировать, чтобы оператор по-прежнему выполнял одно действие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Документы плана операций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Три документа по договору за день вместо двух. Ограничение уникальности документов это штатно допускает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Контроль выполнения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Работает как раньше. Пока этап не выполнен, операции видны в мониторе как невыполненные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Повторный прогон по договору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При перезапуске вечерних операций показатели нужно пересчитать — предусмотрим это программно, не полагаясь на память оператора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0550" y="5257800"/>
            <a:ext cx="11010900" cy="857250"/>
          </a:xfrm>
          <a:prstGeom prst="rect">
            <a:avLst/>
          </a:prstGeom>
          <a:solidFill>
            <a:srgbClr val="FB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0550" y="5257800"/>
            <a:ext cx="47625" cy="85725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1050" y="5400675"/>
            <a:ext cx="106299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6E5313"/>
                </a:solidFill>
                <a:latin typeface="Segoe UI"/>
              </a:rPr>
              <a:t>Безопасный режим отказа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Если третий этап не запустить, система </a:t>
            </a:r>
            <a:r>
              <a:rPr sz="1200" b="1">
                <a:solidFill>
                  <a:srgbClr val="33405C"/>
                </a:solidFill>
                <a:latin typeface="Segoe UI"/>
              </a:rPr>
              <a:t>не выдаст неверные цифры</a:t>
            </a:r>
            <a:r>
              <a:rPr sz="1200" b="0">
                <a:solidFill>
                  <a:srgbClr val="3A4358"/>
                </a:solidFill>
                <a:latin typeface="Segoe UI"/>
              </a:rPr>
              <a:t>: показатели просто не будут рассчитаны, и это сразу видно в мониторе как невыполненная операция.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Эффект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Что получаем и как это проверим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866900"/>
            <a:ext cx="3486150" cy="11811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866900"/>
            <a:ext cx="3486150" cy="381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2076450"/>
            <a:ext cx="30670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Быстрее прогон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Число тяжелых обращений к базе по блоку СЧА/РСА сокращается на порядок — с десятков тысяч до десятков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925" y="1866900"/>
            <a:ext cx="3486150" cy="11811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52925" y="1866900"/>
            <a:ext cx="3486150" cy="381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62475" y="2076450"/>
            <a:ext cx="30670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Меньше нагрузки днем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Прогон меньше конкурирует с работой пользователей за ресурсы сервера в рабочие часы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5300" y="1866900"/>
            <a:ext cx="3486150" cy="118110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15300" y="1866900"/>
            <a:ext cx="3486150" cy="381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4850" y="2076450"/>
            <a:ext cx="306705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Предсказуемость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Время расчета показателей начинает слабо зависеть от числа договоров, база может расти дальше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550" y="3352800"/>
            <a:ext cx="5429250" cy="203835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0550" y="3352800"/>
            <a:ext cx="47625" cy="203835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1050" y="3495675"/>
            <a:ext cx="5048250" cy="1790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405C"/>
                </a:solidFill>
                <a:latin typeface="Segoe UI"/>
              </a:rPr>
              <a:t>Замер до начала разработки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На первом этапе мы измерим фактическую долю расчета СЧА/РСА в общем времени прогона и покажем ожидаемый выигрыш в цифрах. </a:t>
            </a:r>
            <a:r>
              <a:rPr sz="1275" b="1">
                <a:solidFill>
                  <a:srgbClr val="33405C"/>
                </a:solidFill>
                <a:latin typeface="Segoe UI"/>
              </a:rPr>
              <a:t>Если доля окажется небольшой — сообщим об этом и предложим направить усилия на другой участок.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352800"/>
            <a:ext cx="5429250" cy="2038350"/>
          </a:xfrm>
          <a:prstGeom prst="rect">
            <a:avLst/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72200" y="3352800"/>
            <a:ext cx="47625" cy="203835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2700" y="3495675"/>
            <a:ext cx="5048250" cy="1790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4604F"/>
                </a:solidFill>
                <a:latin typeface="Segoe UI"/>
              </a:rPr>
              <a:t>Критерий приемки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Полное совпадение сумм СЧА и РСА по всем договорам за контрольный день, до копейки, при сокращении времени этапа. Сверка "до и после" выполняется на копии продуктивной базы.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Управление риском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Риски и как мы их закрываем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12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1771650"/>
          <a:ext cx="11010900" cy="3886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43706"/>
                <a:gridCol w="7267194"/>
              </a:tblGrid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Риск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Как закрываем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Расхождение сумм после доработки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Внедряем в два шага: сначала переносим расчет в конец </a:t>
                      </a:r>
                      <a:r>
                        <a:rPr sz="1162" b="1">
                          <a:solidFill>
                            <a:srgbClr val="33405C"/>
                          </a:solidFill>
                          <a:latin typeface="Segoe UI"/>
                        </a:rPr>
                        <a:t>без изменения алгоритма</a:t>
                      </a: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 и убеждаемся в полном совпадении, только потом включаем пакетный расчет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Третий этап не запущен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Автоматический последовательный запуск и отражение невыполненной операции в мониторе. Расчет можно доформировать отдельно, не повторяя все закрытие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Повторный прогон без пересчета показателей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Программная связка: при перезапуске вечерних операций по договору показатели помечаются к пересчету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Выигрыш меньше ожидаемого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Замер выполняется до разработки, решение "делаем или не делаем" принимается по факту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Потребуется откат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Откат — это возврат операций в вечерний этап, то есть </a:t>
                      </a:r>
                      <a:r>
                        <a:rPr sz="1162" b="1">
                          <a:solidFill>
                            <a:srgbClr val="33405C"/>
                          </a:solidFill>
                          <a:latin typeface="Segoe UI"/>
                        </a:rPr>
                        <a:t>изменение настройки</a:t>
                      </a: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, а не переустановка доработки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Четыре этапа с контролем результата на каждом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371725"/>
            <a:ext cx="2143125" cy="19050"/>
          </a:xfrm>
          <a:prstGeom prst="rect">
            <a:avLst/>
          </a:prstGeom>
          <a:solidFill>
            <a:srgbClr val="DC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90550" y="2190750"/>
            <a:ext cx="381000" cy="381000"/>
          </a:xfrm>
          <a:prstGeom prst="ellipse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0550" y="2286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2724150"/>
            <a:ext cx="254317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3405C"/>
                </a:solidFill>
                <a:latin typeface="Segoe UI"/>
              </a:rPr>
              <a:t>Замер и анализ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3181350"/>
            <a:ext cx="2543175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Измеряем фактическую долю расчета СЧА/РСА в общем времени прогона, анализируем настройки договоров. Итог — цифра ожидаемого выигрыша и решение о продолжении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1425" y="2371725"/>
            <a:ext cx="2143125" cy="19050"/>
          </a:xfrm>
          <a:prstGeom prst="rect">
            <a:avLst/>
          </a:prstGeom>
          <a:solidFill>
            <a:srgbClr val="DC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343275" y="2190750"/>
            <a:ext cx="381000" cy="381000"/>
          </a:xfrm>
          <a:prstGeom prst="ellipse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43275" y="2286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3275" y="2724150"/>
            <a:ext cx="254317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3405C"/>
                </a:solidFill>
                <a:latin typeface="Segoe UI"/>
              </a:rPr>
              <a:t>Перенос в отдельный этап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3275" y="3181350"/>
            <a:ext cx="2543175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Создаем третий этап и переносим в него операции, алгоритм расчета не трогаем. Итог — суммы совпадают с текущими полностью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4150" y="2371725"/>
            <a:ext cx="2143125" cy="19050"/>
          </a:xfrm>
          <a:prstGeom prst="rect">
            <a:avLst/>
          </a:prstGeom>
          <a:solidFill>
            <a:srgbClr val="DC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096000" y="2190750"/>
            <a:ext cx="381000" cy="381000"/>
          </a:xfrm>
          <a:prstGeom prst="ellipse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0" y="2286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2724150"/>
            <a:ext cx="254317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3405C"/>
                </a:solidFill>
                <a:latin typeface="Segoe UI"/>
              </a:rPr>
              <a:t>Включение пакетного расчета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3181350"/>
            <a:ext cx="2543175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Включаем групповой расчет по однотипным договорам. Итог — сокращение времени этапа при тех же суммах</a:t>
            </a:r>
          </a:p>
        </p:txBody>
      </p:sp>
      <p:sp>
        <p:nvSpPr>
          <p:cNvPr id="22" name="Oval 21"/>
          <p:cNvSpPr/>
          <p:nvPr/>
        </p:nvSpPr>
        <p:spPr>
          <a:xfrm>
            <a:off x="8848725" y="2190750"/>
            <a:ext cx="381000" cy="381000"/>
          </a:xfrm>
          <a:prstGeom prst="ellipse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48725" y="228600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8725" y="2724150"/>
            <a:ext cx="254317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33405C"/>
                </a:solidFill>
                <a:latin typeface="Segoe UI"/>
              </a:rPr>
              <a:t>Регресс и сверка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8725" y="3181350"/>
            <a:ext cx="2543175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>
                <a:solidFill>
                  <a:srgbClr val="3A4358"/>
                </a:solidFill>
                <a:latin typeface="Segoe UI"/>
              </a:rPr>
              <a:t>Прогон и сверка на копии продуктива, итоговый замер. Итог — протоколы сверки и замеров, готовность к переносу на продуктив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0550" y="4724400"/>
            <a:ext cx="11010900" cy="80010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0550" y="4724400"/>
            <a:ext cx="47625" cy="800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1050" y="4867275"/>
            <a:ext cx="106299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Оценку трудозатрат представим после согласования подхода: объем работ по третьему этапу зависит от результатов анализа настроек договоров на первом этапе.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Решение за вами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Что требуется от бизнес-заказчика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809750"/>
            <a:ext cx="11010900" cy="914400"/>
          </a:xfrm>
          <a:prstGeom prst="rect">
            <a:avLst/>
          </a:prstGeom>
          <a:solidFill>
            <a:srgbClr val="FBF4E2"/>
          </a:solidFill>
          <a:ln w="9525">
            <a:solidFill>
              <a:srgbClr val="E8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809750"/>
            <a:ext cx="57150" cy="9144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00100" y="2114550"/>
            <a:ext cx="304800" cy="304800"/>
          </a:xfrm>
          <a:prstGeom prst="ellipse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0100" y="2190750"/>
            <a:ext cx="304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2038350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5313"/>
                </a:solidFill>
                <a:latin typeface="Segoe UI"/>
              </a:rPr>
              <a:t>Согласовать появление третьего этапа закрытия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>
                <a:solidFill>
                  <a:srgbClr val="4B4535"/>
                </a:solidFill>
                <a:latin typeface="Segoe UI"/>
              </a:rPr>
              <a:t>И, как следствие, третьего документа плана регламентных операций по договору за день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2857500"/>
            <a:ext cx="11010900" cy="914400"/>
          </a:xfrm>
          <a:prstGeom prst="rect">
            <a:avLst/>
          </a:prstGeom>
          <a:solidFill>
            <a:srgbClr val="FBF4E2"/>
          </a:solidFill>
          <a:ln w="9525">
            <a:solidFill>
              <a:srgbClr val="E8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0550" y="2857500"/>
            <a:ext cx="57150" cy="9144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00100" y="3162300"/>
            <a:ext cx="304800" cy="304800"/>
          </a:xfrm>
          <a:prstGeom prst="ellipse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0100" y="3238500"/>
            <a:ext cx="304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3086100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5313"/>
                </a:solidFill>
                <a:latin typeface="Segoe UI"/>
              </a:rPr>
              <a:t>Подтвердить требование к запуску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>
                <a:solidFill>
                  <a:srgbClr val="4B4535"/>
                </a:solidFill>
                <a:latin typeface="Segoe UI"/>
              </a:rPr>
              <a:t>Автоматический последовательный запуск двух этапов одним действием оператора — либо два отдельных запуска по регламенту эксплуатации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0550" y="3905250"/>
            <a:ext cx="11010900" cy="914400"/>
          </a:xfrm>
          <a:prstGeom prst="rect">
            <a:avLst/>
          </a:prstGeom>
          <a:solidFill>
            <a:srgbClr val="FBF4E2"/>
          </a:solidFill>
          <a:ln w="9525">
            <a:solidFill>
              <a:srgbClr val="E8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0550" y="3905250"/>
            <a:ext cx="57150" cy="9144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00100" y="4210050"/>
            <a:ext cx="304800" cy="304800"/>
          </a:xfrm>
          <a:prstGeom prst="ellipse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0100" y="4286250"/>
            <a:ext cx="304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4133850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5313"/>
                </a:solidFill>
                <a:latin typeface="Segoe UI"/>
              </a:rPr>
              <a:t>Согласовать окно на копии продуктивной базы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>
                <a:solidFill>
                  <a:srgbClr val="4B4535"/>
                </a:solidFill>
                <a:latin typeface="Segoe UI"/>
              </a:rPr>
              <a:t>Для замеров и сверки результатов "до и после"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550" y="4953000"/>
            <a:ext cx="11010900" cy="914400"/>
          </a:xfrm>
          <a:prstGeom prst="rect">
            <a:avLst/>
          </a:prstGeom>
          <a:solidFill>
            <a:srgbClr val="FBF4E2"/>
          </a:solidFill>
          <a:ln w="9525">
            <a:solidFill>
              <a:srgbClr val="E8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0550" y="4953000"/>
            <a:ext cx="57150" cy="914400"/>
          </a:xfrm>
          <a:prstGeom prst="rect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00100" y="5257800"/>
            <a:ext cx="304800" cy="304800"/>
          </a:xfrm>
          <a:prstGeom prst="ellipse">
            <a:avLst/>
          </a:prstGeom>
          <a:solidFill>
            <a:srgbClr val="B98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0100" y="5334000"/>
            <a:ext cx="304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5181600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E5313"/>
                </a:solidFill>
                <a:latin typeface="Segoe UI"/>
              </a:rPr>
              <a:t>Подтвердить критерий приемки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>
                <a:solidFill>
                  <a:srgbClr val="4B4535"/>
                </a:solidFill>
                <a:latin typeface="Segoe UI"/>
              </a:rPr>
              <a:t>Полное совпадение сумм СЧА и РСА по всем договорам за контрольный день при сокращении времени этапа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Техническое приложение 1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Суть решения для отдела разработки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1866900"/>
            <a:ext cx="5429250" cy="3143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0550" y="1866900"/>
            <a:ext cx="5429250" cy="38100"/>
          </a:xfrm>
          <a:prstGeom prst="rect">
            <a:avLst/>
          </a:prstGeom>
          <a:solidFill>
            <a:srgbClr val="52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2095500"/>
            <a:ext cx="50101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Часть A. Отдельная группа операций (второй проход)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533650"/>
            <a:ext cx="501015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Создается группа </a:t>
            </a:r>
            <a:r>
              <a:rPr sz="1200" b="0">
                <a:solidFill>
                  <a:srgbClr val="3A4358"/>
                </a:solidFill>
                <a:latin typeface="Consolas"/>
              </a:rPr>
              <a:t>3. "Расчет СЧА/РСА"</a:t>
            </a:r>
            <a:r>
              <a:rPr sz="1200" b="0">
                <a:solidFill>
                  <a:srgbClr val="3A4358"/>
                </a:solidFill>
                <a:latin typeface="Segoe UI"/>
              </a:rPr>
              <a:t>, в нее переносятся пять видов операций: расчет СЧА, расчет РСА, доходность портфеля, контроль уменьшения стоимости, контроль уровня рисков.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405C"/>
                </a:solidFill>
                <a:latin typeface="Segoe UI"/>
              </a:rPr>
              <a:t>Ключевой факт:</a:t>
            </a:r>
            <a:r>
              <a:rPr sz="1200" b="0">
                <a:solidFill>
                  <a:srgbClr val="3A4358"/>
                </a:solidFill>
                <a:latin typeface="Segoe UI"/>
              </a:rPr>
              <a:t> привязка вида операции к группе хранится в иерархии справочника </a:t>
            </a:r>
            <a:r>
              <a:rPr sz="1200" b="0">
                <a:solidFill>
                  <a:srgbClr val="3A4358"/>
                </a:solidFill>
                <a:latin typeface="Consolas"/>
              </a:rPr>
              <a:t>ВидыОперацийЗакрытияПериода</a:t>
            </a:r>
            <a:r>
              <a:rPr sz="1200" b="0">
                <a:solidFill>
                  <a:srgbClr val="3A4358"/>
                </a:solidFill>
                <a:latin typeface="Segoe UI"/>
              </a:rPr>
              <a:t>, а не в разрезе договоров. Перенос — это смена реквизита </a:t>
            </a:r>
            <a:r>
              <a:rPr sz="1200" b="0">
                <a:solidFill>
                  <a:srgbClr val="3A4358"/>
                </a:solidFill>
                <a:latin typeface="Consolas"/>
              </a:rPr>
              <a:t>Родитель</a:t>
            </a:r>
            <a:r>
              <a:rPr sz="1200" b="0">
                <a:solidFill>
                  <a:srgbClr val="3A4358"/>
                </a:solidFill>
                <a:latin typeface="Segoe UI"/>
              </a:rPr>
              <a:t> у пяти предопределенных элементов. Миграция настроек по 22 000 договоров не требуется, индивидуальная периодичность сохраняется.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66900"/>
            <a:ext cx="5429250" cy="3143250"/>
          </a:xfrm>
          <a:prstGeom prst="rect">
            <a:avLst/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866900"/>
            <a:ext cx="54292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1750" y="2095500"/>
            <a:ext cx="50101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33405C"/>
                </a:solidFill>
                <a:latin typeface="Segoe UI"/>
              </a:rPr>
              <a:t>Часть D1. Группировка по сигнатуре параметров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2533650"/>
            <a:ext cx="501015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Тело запроса не переписывается. Отбор </a:t>
            </a:r>
            <a:r>
              <a:rPr sz="1200" b="0">
                <a:solidFill>
                  <a:srgbClr val="3A4358"/>
                </a:solidFill>
                <a:latin typeface="Consolas"/>
              </a:rPr>
              <a:t>ДоговорДУ = &amp;ДоговорДУ</a:t>
            </a:r>
            <a:r>
              <a:rPr sz="1200" b="0">
                <a:solidFill>
                  <a:srgbClr val="3A4358"/>
                </a:solidFill>
                <a:latin typeface="Segoe UI"/>
              </a:rPr>
              <a:t> заменяется на </a:t>
            </a:r>
            <a:r>
              <a:rPr sz="1200" b="0">
                <a:solidFill>
                  <a:srgbClr val="3A4358"/>
                </a:solidFill>
                <a:latin typeface="Consolas"/>
              </a:rPr>
              <a:t>ДоговорДУ В (&amp;ДоговорыГруппы)</a:t>
            </a:r>
            <a:r>
              <a:rPr sz="1200" b="0">
                <a:solidFill>
                  <a:srgbClr val="3A4358"/>
                </a:solidFill>
                <a:latin typeface="Segoe UI"/>
              </a:rPr>
              <a:t>, договор добавляется в выборку и группировку.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Группы формируются по 9 параметрам учетной политики, влияющим на состав счетов и регистров. Теоретический максимум: 12 групп по БУ, 32 по УУ. Для розничных портфелей ожидается 1-3 группы. Расчет выполняется пачками договоров — ограничение по памяти.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550" y="5257800"/>
            <a:ext cx="11010900" cy="914400"/>
          </a:xfrm>
          <a:prstGeom prst="rect">
            <a:avLst/>
          </a:prstGeom>
          <a:solidFill>
            <a:srgbClr val="D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0550" y="5257800"/>
            <a:ext cx="47625" cy="9144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1050" y="5400675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A4358"/>
                </a:solidFill>
                <a:latin typeface="Segoe UI"/>
              </a:rPr>
              <a:t>Готовые таблицы доезжают до операции штатным каналом: предподготовка данных перед циклом плюс седьмой параметр исполняемой процедуры. Многопоточность, обработка отказов и регистрация исполнения операций остаются без изменений.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171" y="381000"/>
            <a:ext cx="1197429" cy="28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0550" y="3619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60" cap="all">
                <a:solidFill>
                  <a:srgbClr val="A8B1C4"/>
                </a:solidFill>
                <a:latin typeface="Segoe UI"/>
              </a:rPr>
              <a:t>Техническое приложение 2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9055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33405C"/>
                </a:solidFill>
                <a:latin typeface="Segoe UI"/>
              </a:rPr>
              <a:t>Результаты проверки технической возможности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550" y="1123950"/>
            <a:ext cx="704850" cy="38100"/>
          </a:xfrm>
          <a:prstGeom prst="rect">
            <a:avLst/>
          </a:prstGeom>
          <a:solidFill>
            <a:srgbClr val="8D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3600" y="6438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spc="100">
                <a:solidFill>
                  <a:srgbClr val="A8B1C4"/>
                </a:solidFill>
                <a:latin typeface="Segoe UI"/>
              </a:rPr>
              <a:t>16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1771650"/>
          <a:ext cx="11010900" cy="2857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65014"/>
                <a:gridCol w="5945886"/>
              </a:tblGrid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Проверка по исходным текстам конфигурации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</a:rPr>
                        <a:t>Результат</a:t>
                      </a:r>
                    </a:p>
                  </a:txBody>
                  <a:tcPr marL="133350" marR="114300" marT="85725" marB="85725" anchor="ctr">
                    <a:solidFill>
                      <a:srgbClr val="33405C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Несколько планов операций на договор в день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Допустимо штатно: уникальность контролируется в разрезе даты, договора </a:t>
                      </a:r>
                      <a:r>
                        <a:rPr sz="1162" b="1">
                          <a:solidFill>
                            <a:srgbClr val="33405C"/>
                          </a:solidFill>
                          <a:latin typeface="Segoe UI"/>
                        </a:rPr>
                        <a:t>и группы операций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Сдвиг даты документов расчета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Не происходит: дата привязана к окончанию рабочего дня, от момента расчета не зависит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Влияние операций 1000-1030 на входные данные расчета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Отсутствует: регистр бухгалтерии и регистры накопления УУ они не затрагивают, поэтому предподготовка второго прохода корректна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Зависимость контрольных операций от результата расчета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Есть, поэтому переносятся вместе. Порядок внутри группы сохраняется</a:t>
                      </a:r>
                    </a:p>
                  </a:txBody>
                  <a:tcPr marL="133350" marR="114300" marT="85725" marB="85725" anchor="ctr">
                    <a:solidFill>
                      <a:srgbClr val="F7F9FC"/>
                    </a:solidFill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Отображение новой группы в интерфейсе, блокировки, план-факт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62" b="0">
                          <a:solidFill>
                            <a:srgbClr val="3A4358"/>
                          </a:solidFill>
                          <a:latin typeface="Segoe UI"/>
                        </a:rPr>
                        <a:t>Доработка не требуется, конфликтов нет</a:t>
                      </a:r>
                    </a:p>
                  </a:txBody>
                  <a:tcPr marL="13335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0550" y="5143500"/>
            <a:ext cx="11010900" cy="914400"/>
          </a:xfrm>
          <a:prstGeom prst="rect">
            <a:avLst/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0550" y="5143500"/>
            <a:ext cx="47625" cy="914400"/>
          </a:xfrm>
          <a:prstGeom prst="rect">
            <a:avLst/>
          </a:prstGeom>
          <a:solidFill>
            <a:srgbClr val="2E7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1050" y="5286375"/>
            <a:ext cx="106299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1">
                <a:solidFill>
                  <a:srgbClr val="24604F"/>
                </a:solidFill>
                <a:latin typeface="Segoe UI"/>
              </a:rPr>
              <a:t>Вывод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358"/>
                </a:solidFill>
                <a:latin typeface="Segoe UI"/>
              </a:rPr>
              <a:t>Решение реализуемо </a:t>
            </a:r>
            <a:r>
              <a:rPr sz="1200" b="1">
                <a:solidFill>
                  <a:srgbClr val="33405C"/>
                </a:solidFill>
                <a:latin typeface="Segoe UI"/>
              </a:rPr>
              <a:t>без изменения архитектуры механизма регламентных операций</a:t>
            </a:r>
            <a:r>
              <a:rPr sz="1200" b="0">
                <a:solidFill>
                  <a:srgbClr val="3A4358"/>
                </a:solidFill>
                <a:latin typeface="Segoe UI"/>
              </a:rPr>
              <a:t>. Правки локализованы в предподготовке данных и в расчетном методе менеджера документа. Выполняется расширением конфигурации.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64389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A8B1C4"/>
                </a:solidFill>
                <a:latin typeface="Segoe UI"/>
              </a:rPr>
              <a:t>IMDEV-8663, доработка 2. Подробное описание — proposal_scha_rsa_batch_calculation.html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