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526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vi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43000"/>
            <a:ext cx="2075543" cy="4953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286000"/>
            <a:ext cx="8572500" cy="133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750" b="1">
                <a:solidFill>
                  <a:srgbClr val="33405C"/>
                </a:solidFill>
                <a:latin typeface="Segoe UI"/>
              </a:rPr>
              <a:t>Ускорение вечерних регламентных операций розничного ДУ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43300"/>
            <a:ext cx="8382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52648A"/>
                </a:solidFill>
                <a:latin typeface="Segoe UI"/>
              </a:rPr>
              <a:t>Вынос расчета СЧА и РСА в отдельный завершающий этап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171950"/>
            <a:ext cx="3238500" cy="400050"/>
          </a:xfrm>
          <a:prstGeom prst="rect">
            <a:avLst/>
          </a:prstGeom>
          <a:solidFill>
            <a:srgbClr val="B98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66800" y="4286250"/>
            <a:ext cx="2971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spc="60">
                <a:solidFill>
                  <a:srgbClr val="FFFFFF"/>
                </a:solidFill>
                <a:latin typeface="Segoe UI"/>
              </a:rPr>
              <a:t>Предложение на согласование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34000"/>
            <a:ext cx="666750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A7488"/>
                </a:solidFill>
                <a:latin typeface="Segoe UI"/>
              </a:rPr>
              <a:t>Кому:</a:t>
            </a:r>
            <a:r>
              <a:rPr sz="1200" b="0">
                <a:solidFill>
                  <a:srgbClr val="6A7488"/>
                </a:solidFill>
                <a:latin typeface="Segoe UI"/>
              </a:rPr>
              <a:t> Кукушкин В.Ю., Юрашева Ю.Ю.</a:t>
            </a:r>
          </a:p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A7488"/>
                </a:solidFill>
                <a:latin typeface="Segoe UI"/>
              </a:rPr>
              <a:t>Система:</a:t>
            </a:r>
            <a:r>
              <a:rPr sz="1200" b="0">
                <a:solidFill>
                  <a:srgbClr val="6A7488"/>
                </a:solidFill>
                <a:latin typeface="Segoe UI"/>
              </a:rPr>
              <a:t> база ДУ, группа операций "2. Вечерние операции"</a:t>
            </a:r>
          </a:p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A7488"/>
                </a:solidFill>
                <a:latin typeface="Segoe UI"/>
              </a:rPr>
              <a:t>Дата:</a:t>
            </a:r>
            <a:r>
              <a:rPr sz="1200" b="0">
                <a:solidFill>
                  <a:srgbClr val="6A7488"/>
                </a:solidFill>
                <a:latin typeface="Segoe UI"/>
              </a:rPr>
              <a:t> 15 августа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53600" y="64389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 spc="100">
                <a:solidFill>
                  <a:srgbClr val="A8B1C4"/>
                </a:solidFill>
                <a:latin typeface="Segoe UI"/>
              </a:rPr>
              <a:t>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1171" y="381000"/>
            <a:ext cx="1197429" cy="285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0550" y="3619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60" cap="all">
                <a:solidFill>
                  <a:srgbClr val="A8B1C4"/>
                </a:solidFill>
                <a:latin typeface="Segoe UI"/>
              </a:rPr>
              <a:t>Контекст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0550" y="590550"/>
            <a:ext cx="1028700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33405C"/>
                </a:solidFill>
                <a:latin typeface="Segoe UI"/>
              </a:rPr>
              <a:t>О чем идет речь</a:t>
            </a:r>
          </a:p>
        </p:txBody>
      </p:sp>
      <p:sp>
        <p:nvSpPr>
          <p:cNvPr id="5" name="Rectangle 4"/>
          <p:cNvSpPr/>
          <p:nvPr/>
        </p:nvSpPr>
        <p:spPr>
          <a:xfrm>
            <a:off x="590550" y="1123950"/>
            <a:ext cx="704850" cy="38100"/>
          </a:xfrm>
          <a:prstGeom prst="rect">
            <a:avLst/>
          </a:prstGeom>
          <a:solidFill>
            <a:srgbClr val="8DB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753600" y="64389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 spc="100">
                <a:solidFill>
                  <a:srgbClr val="A8B1C4"/>
                </a:solidFill>
                <a:latin typeface="Segoe UI"/>
              </a:rPr>
              <a:t>2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90550" y="2133600"/>
            <a:ext cx="3486150" cy="1238250"/>
          </a:xfrm>
          <a:prstGeom prst="rect">
            <a:avLst/>
          </a:prstGeom>
          <a:solidFill>
            <a:srgbClr val="F3F5F8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90550" y="2133600"/>
            <a:ext cx="3486150" cy="38100"/>
          </a:xfrm>
          <a:prstGeom prst="rect">
            <a:avLst/>
          </a:prstGeom>
          <a:solidFill>
            <a:srgbClr val="526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0100" y="2343150"/>
            <a:ext cx="306705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425" b="1">
                <a:solidFill>
                  <a:srgbClr val="33405C"/>
                </a:solidFill>
                <a:latin typeface="Segoe UI"/>
              </a:rPr>
              <a:t>Что оптимизируем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A4358"/>
                </a:solidFill>
                <a:latin typeface="Segoe UI"/>
              </a:rPr>
              <a:t>Группу регламентных операций </a:t>
            </a:r>
            <a:r>
              <a:rPr sz="1200" b="1">
                <a:solidFill>
                  <a:srgbClr val="33405C"/>
                </a:solidFill>
                <a:latin typeface="Segoe UI"/>
              </a:rPr>
              <a:t>"2. Вечерние операции"</a:t>
            </a:r>
            <a:r>
              <a:rPr sz="1200" b="0">
                <a:solidFill>
                  <a:srgbClr val="3A4358"/>
                </a:solidFill>
                <a:latin typeface="Segoe UI"/>
              </a:rPr>
              <a:t> по розничному доверительному управлению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52925" y="2133600"/>
            <a:ext cx="3486150" cy="1238250"/>
          </a:xfrm>
          <a:prstGeom prst="rect">
            <a:avLst/>
          </a:prstGeom>
          <a:solidFill>
            <a:srgbClr val="F3F5F8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352925" y="2133600"/>
            <a:ext cx="3486150" cy="38100"/>
          </a:xfrm>
          <a:prstGeom prst="rect">
            <a:avLst/>
          </a:prstGeom>
          <a:solidFill>
            <a:srgbClr val="526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562475" y="2343150"/>
            <a:ext cx="306705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425" b="1">
                <a:solidFill>
                  <a:srgbClr val="33405C"/>
                </a:solidFill>
                <a:latin typeface="Segoe UI"/>
              </a:rPr>
              <a:t>Какой объем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A4358"/>
                </a:solidFill>
                <a:latin typeface="Segoe UI"/>
              </a:rPr>
              <a:t>Порядка </a:t>
            </a:r>
            <a:r>
              <a:rPr sz="1200" b="1">
                <a:solidFill>
                  <a:srgbClr val="33405C"/>
                </a:solidFill>
                <a:latin typeface="Segoe UI"/>
              </a:rPr>
              <a:t>22 000 договоров</a:t>
            </a:r>
            <a:r>
              <a:rPr sz="1200" b="0">
                <a:solidFill>
                  <a:srgbClr val="3A4358"/>
                </a:solidFill>
                <a:latin typeface="Segoe UI"/>
              </a:rPr>
              <a:t> в одном прогоне, и клиентская база продолжает расти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15300" y="2133600"/>
            <a:ext cx="3486150" cy="1238250"/>
          </a:xfrm>
          <a:prstGeom prst="rect">
            <a:avLst/>
          </a:prstGeom>
          <a:solidFill>
            <a:srgbClr val="F3F5F8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8115300" y="2133600"/>
            <a:ext cx="3486150" cy="38100"/>
          </a:xfrm>
          <a:prstGeom prst="rect">
            <a:avLst/>
          </a:prstGeom>
          <a:solidFill>
            <a:srgbClr val="526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324850" y="2343150"/>
            <a:ext cx="306705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425" b="1">
                <a:solidFill>
                  <a:srgbClr val="33405C"/>
                </a:solidFill>
                <a:latin typeface="Segoe UI"/>
              </a:rPr>
              <a:t>Что считается тяжело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A4358"/>
                </a:solidFill>
                <a:latin typeface="Segoe UI"/>
              </a:rPr>
              <a:t>Два показателя: </a:t>
            </a:r>
            <a:r>
              <a:rPr sz="1200" b="1">
                <a:solidFill>
                  <a:srgbClr val="33405C"/>
                </a:solidFill>
                <a:latin typeface="Segoe UI"/>
              </a:rPr>
              <a:t>СЧА</a:t>
            </a:r>
            <a:r>
              <a:rPr sz="1200" b="0">
                <a:solidFill>
                  <a:srgbClr val="3A4358"/>
                </a:solidFill>
                <a:latin typeface="Segoe UI"/>
              </a:rPr>
              <a:t> — стоимость чистых активов и </a:t>
            </a:r>
            <a:r>
              <a:rPr sz="1200" b="1">
                <a:solidFill>
                  <a:srgbClr val="33405C"/>
                </a:solidFill>
                <a:latin typeface="Segoe UI"/>
              </a:rPr>
              <a:t>РСА</a:t>
            </a:r>
            <a:r>
              <a:rPr sz="1200" b="0">
                <a:solidFill>
                  <a:srgbClr val="3A4358"/>
                </a:solidFill>
                <a:latin typeface="Segoe UI"/>
              </a:rPr>
              <a:t> — размер собственных активов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0550" y="4305300"/>
            <a:ext cx="11010900" cy="1238250"/>
          </a:xfrm>
          <a:prstGeom prst="rect">
            <a:avLst/>
          </a:prstGeom>
          <a:solidFill>
            <a:srgbClr val="FB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90550" y="4305300"/>
            <a:ext cx="47625" cy="1238250"/>
          </a:xfrm>
          <a:prstGeom prst="rect">
            <a:avLst/>
          </a:prstGeom>
          <a:solidFill>
            <a:srgbClr val="B98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81050" y="4448175"/>
            <a:ext cx="10629900" cy="990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6E5313"/>
                </a:solidFill>
                <a:latin typeface="Segoe UI"/>
              </a:rPr>
              <a:t>Важное уточнение по терминологии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3A4358"/>
                </a:solidFill>
                <a:latin typeface="Segoe UI"/>
              </a:rPr>
              <a:t>Название "вечерние операции" — историческое. Фактически эта группа запускается </a:t>
            </a:r>
            <a:r>
              <a:rPr sz="1275" b="1">
                <a:solidFill>
                  <a:srgbClr val="33405C"/>
                </a:solidFill>
                <a:latin typeface="Segoe UI"/>
              </a:rPr>
              <a:t>днем и обрабатывает предыдущий рабочий день</a:t>
            </a:r>
            <a:r>
              <a:rPr sz="1275" b="0">
                <a:solidFill>
                  <a:srgbClr val="3A4358"/>
                </a:solidFill>
                <a:latin typeface="Segoe UI"/>
              </a:rPr>
              <a:t>. Значит, длительный прогон нагружает базу в рабочие часы и отодвигает момент готовности данных за вчера.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0550" y="643890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A8B1C4"/>
                </a:solidFill>
                <a:latin typeface="Segoe UI"/>
              </a:rPr>
              <a:t>Предложение по доработке. База ДУ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1171" y="381000"/>
            <a:ext cx="1197429" cy="285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0550" y="3619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60" cap="all">
                <a:solidFill>
                  <a:srgbClr val="A8B1C4"/>
                </a:solidFill>
                <a:latin typeface="Segoe UI"/>
              </a:rPr>
              <a:t>Проблема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0550" y="590550"/>
            <a:ext cx="1028700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33405C"/>
                </a:solidFill>
                <a:latin typeface="Segoe UI"/>
              </a:rPr>
              <a:t>Сегодня показатели считаются отдельно по каждому договору</a:t>
            </a:r>
          </a:p>
        </p:txBody>
      </p:sp>
      <p:sp>
        <p:nvSpPr>
          <p:cNvPr id="5" name="Rectangle 4"/>
          <p:cNvSpPr/>
          <p:nvPr/>
        </p:nvSpPr>
        <p:spPr>
          <a:xfrm>
            <a:off x="590550" y="1123950"/>
            <a:ext cx="704850" cy="38100"/>
          </a:xfrm>
          <a:prstGeom prst="rect">
            <a:avLst/>
          </a:prstGeom>
          <a:solidFill>
            <a:srgbClr val="8DB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753600" y="64389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 spc="100">
                <a:solidFill>
                  <a:srgbClr val="A8B1C4"/>
                </a:solidFill>
                <a:latin typeface="Segoe UI"/>
              </a:rPr>
              <a:t>3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90550" y="1676400"/>
            <a:ext cx="1866900" cy="742950"/>
          </a:xfrm>
          <a:prstGeom prst="rect">
            <a:avLst/>
          </a:prstGeom>
          <a:solidFill>
            <a:srgbClr val="F3F5F8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85800" y="1847850"/>
            <a:ext cx="1676400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87" b="0">
                <a:solidFill>
                  <a:srgbClr val="3A4358"/>
                </a:solidFill>
                <a:latin typeface="Segoe UI"/>
              </a:rPr>
              <a:t>Договор 1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33405C"/>
                </a:solidFill>
                <a:latin typeface="Segoe UI"/>
              </a:rPr>
              <a:t>5 тяжелых запросов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57450" y="1943100"/>
            <a:ext cx="2095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A8B1C4"/>
                </a:solidFill>
                <a:latin typeface="Segoe UI"/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67000" y="1676400"/>
            <a:ext cx="1866900" cy="742950"/>
          </a:xfrm>
          <a:prstGeom prst="rect">
            <a:avLst/>
          </a:prstGeom>
          <a:solidFill>
            <a:srgbClr val="F3F5F8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762250" y="1847850"/>
            <a:ext cx="1676400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87" b="0">
                <a:solidFill>
                  <a:srgbClr val="3A4358"/>
                </a:solidFill>
                <a:latin typeface="Segoe UI"/>
              </a:rPr>
              <a:t>Договор 2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33405C"/>
                </a:solidFill>
                <a:latin typeface="Segoe UI"/>
              </a:rPr>
              <a:t>5 тяжелых запросов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3900" y="1943100"/>
            <a:ext cx="2095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A8B1C4"/>
                </a:solidFill>
                <a:latin typeface="Segoe UI"/>
              </a:rPr>
              <a:t>+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43450" y="1676400"/>
            <a:ext cx="1866900" cy="742950"/>
          </a:xfrm>
          <a:prstGeom prst="rect">
            <a:avLst/>
          </a:prstGeom>
          <a:solidFill>
            <a:srgbClr val="F3F5F8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838700" y="1847850"/>
            <a:ext cx="1676400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87" b="0">
                <a:solidFill>
                  <a:srgbClr val="3A4358"/>
                </a:solidFill>
                <a:latin typeface="Segoe UI"/>
              </a:rPr>
              <a:t>Договор 3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33405C"/>
                </a:solidFill>
                <a:latin typeface="Segoe UI"/>
              </a:rPr>
              <a:t>5 тяжелых запросов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0350" y="1943100"/>
            <a:ext cx="2095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A8B1C4"/>
                </a:solidFill>
                <a:latin typeface="Segoe UI"/>
              </a:rPr>
              <a:t>...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19900" y="1676400"/>
            <a:ext cx="1866900" cy="742950"/>
          </a:xfrm>
          <a:prstGeom prst="rect">
            <a:avLst/>
          </a:prstGeom>
          <a:solidFill>
            <a:srgbClr val="F3F5F8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915150" y="1847850"/>
            <a:ext cx="1676400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87" b="0">
                <a:solidFill>
                  <a:srgbClr val="3A4358"/>
                </a:solidFill>
                <a:latin typeface="Segoe UI"/>
              </a:rPr>
              <a:t>Договор 22 000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33405C"/>
                </a:solidFill>
                <a:latin typeface="Segoe UI"/>
              </a:rPr>
              <a:t>5 тяжелых запросов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96350" y="1943100"/>
            <a:ext cx="2095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A8B1C4"/>
                </a:solidFill>
                <a:latin typeface="Segoe UI"/>
              </a:rPr>
              <a:t>=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05900" y="1676400"/>
            <a:ext cx="3086100" cy="742950"/>
          </a:xfrm>
          <a:prstGeom prst="rect">
            <a:avLst/>
          </a:prstGeom>
          <a:solidFill>
            <a:srgbClr val="F8ECEB"/>
          </a:solidFill>
          <a:ln w="9525">
            <a:solidFill>
              <a:srgbClr val="E3C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01150" y="1809750"/>
            <a:ext cx="28956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650" b="1">
                <a:solidFill>
                  <a:srgbClr val="A8423F"/>
                </a:solidFill>
                <a:latin typeface="Segoe UI"/>
              </a:rPr>
              <a:t>110 000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87" b="0">
                <a:solidFill>
                  <a:srgbClr val="3A4358"/>
                </a:solidFill>
                <a:latin typeface="Segoe UI"/>
              </a:rPr>
              <a:t>обращений к базе данных</a:t>
            </a:r>
          </a:p>
        </p:txBody>
      </p:sp>
      <p:sp>
        <p:nvSpPr>
          <p:cNvPr id="21" name="Oval 20"/>
          <p:cNvSpPr/>
          <p:nvPr/>
        </p:nvSpPr>
        <p:spPr>
          <a:xfrm>
            <a:off x="619125" y="2886075"/>
            <a:ext cx="76200" cy="76200"/>
          </a:xfrm>
          <a:prstGeom prst="ellipse">
            <a:avLst/>
          </a:prstGeom>
          <a:solidFill>
            <a:srgbClr val="8DB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28675" y="2819400"/>
            <a:ext cx="5667375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3A4358"/>
                </a:solidFill>
                <a:latin typeface="Segoe UI"/>
              </a:rPr>
              <a:t>Каждое обращение — </a:t>
            </a:r>
            <a:r>
              <a:rPr sz="1275" b="1">
                <a:solidFill>
                  <a:srgbClr val="33405C"/>
                </a:solidFill>
                <a:latin typeface="Segoe UI"/>
              </a:rPr>
              <a:t>не справочный запрос, а расчет остатков на конец дня</a:t>
            </a:r>
            <a:r>
              <a:rPr sz="1275" b="0">
                <a:solidFill>
                  <a:srgbClr val="3A4358"/>
                </a:solidFill>
                <a:latin typeface="Segoe UI"/>
              </a:rPr>
              <a:t>: счета бухгалтерского учета плюс около 17 регистров управленческого учета.</a:t>
            </a:r>
          </a:p>
        </p:txBody>
      </p:sp>
      <p:sp>
        <p:nvSpPr>
          <p:cNvPr id="23" name="Oval 22"/>
          <p:cNvSpPr/>
          <p:nvPr/>
        </p:nvSpPr>
        <p:spPr>
          <a:xfrm>
            <a:off x="619125" y="3724275"/>
            <a:ext cx="76200" cy="76200"/>
          </a:xfrm>
          <a:prstGeom prst="ellipse">
            <a:avLst/>
          </a:prstGeom>
          <a:solidFill>
            <a:srgbClr val="8DB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28675" y="3657600"/>
            <a:ext cx="5667375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3A4358"/>
                </a:solidFill>
                <a:latin typeface="Segoe UI"/>
              </a:rPr>
              <a:t>Одна и та же по своей сути работа выполняется </a:t>
            </a:r>
            <a:r>
              <a:rPr sz="1275" b="1">
                <a:solidFill>
                  <a:srgbClr val="33405C"/>
                </a:solidFill>
                <a:latin typeface="Segoe UI"/>
              </a:rPr>
              <a:t>22 000 раз</a:t>
            </a:r>
            <a:r>
              <a:rPr sz="1275" b="0">
                <a:solidFill>
                  <a:srgbClr val="3A4358"/>
                </a:solidFill>
                <a:latin typeface="Segoe UI"/>
              </a:rPr>
              <a:t>. База многократно перечитывает одни и те же таблицы.</a:t>
            </a:r>
          </a:p>
        </p:txBody>
      </p:sp>
      <p:sp>
        <p:nvSpPr>
          <p:cNvPr id="25" name="Oval 24"/>
          <p:cNvSpPr/>
          <p:nvPr/>
        </p:nvSpPr>
        <p:spPr>
          <a:xfrm>
            <a:off x="619125" y="4333875"/>
            <a:ext cx="76200" cy="76200"/>
          </a:xfrm>
          <a:prstGeom prst="ellipse">
            <a:avLst/>
          </a:prstGeom>
          <a:solidFill>
            <a:srgbClr val="8DB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28675" y="4267200"/>
            <a:ext cx="5667375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3A4358"/>
                </a:solidFill>
                <a:latin typeface="Segoe UI"/>
              </a:rPr>
              <a:t>Расчет идет </a:t>
            </a:r>
            <a:r>
              <a:rPr sz="1275" b="1">
                <a:solidFill>
                  <a:srgbClr val="33405C"/>
                </a:solidFill>
                <a:latin typeface="Segoe UI"/>
              </a:rPr>
              <a:t>в общей очереди операций</a:t>
            </a:r>
            <a:r>
              <a:rPr sz="1275" b="0">
                <a:solidFill>
                  <a:srgbClr val="3A4358"/>
                </a:solidFill>
                <a:latin typeface="Segoe UI"/>
              </a:rPr>
              <a:t> по договору, вперемешку с остальным закрытием.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58200" y="2819400"/>
            <a:ext cx="3143250" cy="1428750"/>
          </a:xfrm>
          <a:prstGeom prst="rect">
            <a:avLst/>
          </a:prstGeom>
          <a:solidFill>
            <a:srgbClr val="F3F5F8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591550" y="3219450"/>
            <a:ext cx="28765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3300" b="1">
                <a:solidFill>
                  <a:srgbClr val="52648A"/>
                </a:solidFill>
                <a:latin typeface="Segoe UI"/>
              </a:rPr>
              <a:t>22 000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6A7488"/>
                </a:solidFill>
                <a:latin typeface="Segoe UI"/>
              </a:rPr>
              <a:t>договоров в прогоне,
и число растет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0550" y="4762500"/>
            <a:ext cx="11010900" cy="914400"/>
          </a:xfrm>
          <a:prstGeom prst="rect">
            <a:avLst/>
          </a:prstGeom>
          <a:solidFill>
            <a:srgbClr val="DC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590550" y="4762500"/>
            <a:ext cx="47625" cy="914400"/>
          </a:xfrm>
          <a:prstGeom prst="rect">
            <a:avLst/>
          </a:prstGeom>
          <a:solidFill>
            <a:srgbClr val="8DB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81050" y="4905375"/>
            <a:ext cx="1062990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33405C"/>
                </a:solidFill>
                <a:latin typeface="Segoe UI"/>
              </a:rPr>
              <a:t>Из чего состоят эти пять запросов на каждый договор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3A4358"/>
                </a:solidFill>
                <a:latin typeface="Segoe UI"/>
              </a:rPr>
              <a:t>Параметры учетной политики договора, курсы валют, остатки по счетам бухгалтерского учета, остатки по регистрам управленческого учета и — при соответствующей настройке — справедливая стоимость незавершенных сделок.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1171" y="381000"/>
            <a:ext cx="1197429" cy="285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0550" y="3619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60" cap="all">
                <a:solidFill>
                  <a:srgbClr val="A8B1C4"/>
                </a:solidFill>
                <a:latin typeface="Segoe UI"/>
              </a:rPr>
              <a:t>Почему сейчас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0550" y="590550"/>
            <a:ext cx="1028700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33405C"/>
                </a:solidFill>
                <a:latin typeface="Segoe UI"/>
              </a:rPr>
              <a:t>Время прогона растет пропорционально числу договоров</a:t>
            </a:r>
          </a:p>
        </p:txBody>
      </p:sp>
      <p:sp>
        <p:nvSpPr>
          <p:cNvPr id="5" name="Rectangle 4"/>
          <p:cNvSpPr/>
          <p:nvPr/>
        </p:nvSpPr>
        <p:spPr>
          <a:xfrm>
            <a:off x="590550" y="1123950"/>
            <a:ext cx="704850" cy="38100"/>
          </a:xfrm>
          <a:prstGeom prst="rect">
            <a:avLst/>
          </a:prstGeom>
          <a:solidFill>
            <a:srgbClr val="8DB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753600" y="64389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 spc="100">
                <a:solidFill>
                  <a:srgbClr val="A8B1C4"/>
                </a:solidFill>
                <a:latin typeface="Segoe UI"/>
              </a:rPr>
              <a:t>4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90550" y="2209800"/>
            <a:ext cx="3486150" cy="1428750"/>
          </a:xfrm>
          <a:prstGeom prst="rect">
            <a:avLst/>
          </a:prstGeom>
          <a:solidFill>
            <a:srgbClr val="F3F5F8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90550" y="2209800"/>
            <a:ext cx="3486150" cy="38100"/>
          </a:xfrm>
          <a:prstGeom prst="rect">
            <a:avLst/>
          </a:prstGeom>
          <a:solidFill>
            <a:srgbClr val="526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0100" y="2419350"/>
            <a:ext cx="3067050" cy="1047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425" b="1">
                <a:solidFill>
                  <a:srgbClr val="33405C"/>
                </a:solidFill>
                <a:latin typeface="Segoe UI"/>
              </a:rPr>
              <a:t>Рост клиентской базы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A4358"/>
                </a:solidFill>
                <a:latin typeface="Segoe UI"/>
              </a:rPr>
              <a:t>Каждый новый договор добавляет прогону свою порцию времени. Зависимость линейная, потолка у нее нет.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52925" y="2209800"/>
            <a:ext cx="3486150" cy="1428750"/>
          </a:xfrm>
          <a:prstGeom prst="rect">
            <a:avLst/>
          </a:prstGeom>
          <a:solidFill>
            <a:srgbClr val="F3F5F8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352925" y="2209800"/>
            <a:ext cx="3486150" cy="38100"/>
          </a:xfrm>
          <a:prstGeom prst="rect">
            <a:avLst/>
          </a:prstGeom>
          <a:solidFill>
            <a:srgbClr val="526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562475" y="2419350"/>
            <a:ext cx="3067050" cy="1047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425" b="1">
                <a:solidFill>
                  <a:srgbClr val="33405C"/>
                </a:solidFill>
                <a:latin typeface="Segoe UI"/>
              </a:rPr>
              <a:t>Нагрузка в рабочие часы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A4358"/>
                </a:solidFill>
                <a:latin typeface="Segoe UI"/>
              </a:rPr>
              <a:t>Прогон идет днем, одновременно с работой пользователей: тяжелые запросы конкурируют с ними за ресурсы сервера.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15300" y="2209800"/>
            <a:ext cx="3486150" cy="1428750"/>
          </a:xfrm>
          <a:prstGeom prst="rect">
            <a:avLst/>
          </a:prstGeom>
          <a:solidFill>
            <a:srgbClr val="F3F5F8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8115300" y="2209800"/>
            <a:ext cx="3486150" cy="38100"/>
          </a:xfrm>
          <a:prstGeom prst="rect">
            <a:avLst/>
          </a:prstGeom>
          <a:solidFill>
            <a:srgbClr val="526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324850" y="2419350"/>
            <a:ext cx="3067050" cy="1047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425" b="1">
                <a:solidFill>
                  <a:srgbClr val="33405C"/>
                </a:solidFill>
                <a:latin typeface="Segoe UI"/>
              </a:rPr>
              <a:t>Позднее закрытие "вчера"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A4358"/>
                </a:solidFill>
                <a:latin typeface="Segoe UI"/>
              </a:rPr>
              <a:t>Чем дольше прогон, тем позже готовы показатели за предыдущий рабочий день и все, что от них зависит.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0550" y="4400550"/>
            <a:ext cx="11010900" cy="1123950"/>
          </a:xfrm>
          <a:prstGeom prst="rect">
            <a:avLst/>
          </a:prstGeom>
          <a:solidFill>
            <a:srgbClr val="F8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90550" y="4400550"/>
            <a:ext cx="47625" cy="1123950"/>
          </a:xfrm>
          <a:prstGeom prst="rect">
            <a:avLst/>
          </a:prstGeom>
          <a:solidFill>
            <a:srgbClr val="A8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81050" y="4543425"/>
            <a:ext cx="10629900" cy="876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A8423F"/>
                </a:solidFill>
                <a:latin typeface="Segoe UI"/>
              </a:rPr>
              <a:t>Вывод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3A4358"/>
                </a:solidFill>
                <a:latin typeface="Segoe UI"/>
              </a:rPr>
              <a:t>Дело не только в том, что прогон долгий. Текущая схема расчета </a:t>
            </a:r>
            <a:r>
              <a:rPr sz="1275" b="1">
                <a:solidFill>
                  <a:srgbClr val="33405C"/>
                </a:solidFill>
                <a:latin typeface="Segoe UI"/>
              </a:rPr>
              <a:t>ограничивает дальнейший рост розничного ДУ</a:t>
            </a:r>
            <a:r>
              <a:rPr sz="1275" b="0">
                <a:solidFill>
                  <a:srgbClr val="3A4358"/>
                </a:solidFill>
                <a:latin typeface="Segoe UI"/>
              </a:rPr>
              <a:t>: при сохранении подхода время будет увеличиваться вместе с числом договоров.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40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34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10277475" y="276225"/>
            <a:ext cx="1384300" cy="43815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vi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0825" y="361950"/>
            <a:ext cx="1117600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552700"/>
            <a:ext cx="6667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spc="200" cap="all">
                <a:solidFill>
                  <a:srgbClr val="8DB8C7"/>
                </a:solidFill>
                <a:latin typeface="Segoe UI"/>
              </a:rPr>
              <a:t>Ключевая часть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14650"/>
            <a:ext cx="89535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FFFFFF"/>
                </a:solidFill>
                <a:latin typeface="Segoe UI"/>
              </a:rPr>
              <a:t>Что мы предлагаем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8100"/>
            <a:ext cx="85725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C9D3E0"/>
                </a:solidFill>
                <a:latin typeface="Segoe UI"/>
              </a:rPr>
              <a:t>Два решения, которые требуют вашего согласования. Первое меняет </a:t>
            </a:r>
            <a:r>
              <a:rPr sz="1725" b="1">
                <a:solidFill>
                  <a:srgbClr val="C9D3E0"/>
                </a:solidFill>
                <a:latin typeface="Segoe UI"/>
              </a:rPr>
              <a:t>момент</a:t>
            </a:r>
            <a:r>
              <a:rPr sz="1725" b="0">
                <a:solidFill>
                  <a:srgbClr val="C9D3E0"/>
                </a:solidFill>
                <a:latin typeface="Segoe UI"/>
              </a:rPr>
              <a:t> расчета, второе — </a:t>
            </a:r>
            <a:r>
              <a:rPr sz="1725" b="1">
                <a:solidFill>
                  <a:srgbClr val="C9D3E0"/>
                </a:solidFill>
                <a:latin typeface="Segoe UI"/>
              </a:rPr>
              <a:t>способ</a:t>
            </a:r>
            <a:r>
              <a:rPr sz="1725" b="0">
                <a:solidFill>
                  <a:srgbClr val="C9D3E0"/>
                </a:solidFill>
                <a:latin typeface="Segoe UI"/>
              </a:rPr>
              <a:t> расчета.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53600" y="64389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 spc="100">
                <a:solidFill>
                  <a:srgbClr val="7C89A3"/>
                </a:solidFill>
                <a:latin typeface="Segoe UI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1171" y="381000"/>
            <a:ext cx="1197429" cy="285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0550" y="3619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60" cap="all">
                <a:solidFill>
                  <a:srgbClr val="A8B1C4"/>
                </a:solidFill>
                <a:latin typeface="Segoe UI"/>
              </a:rPr>
              <a:t>Предложение 1 из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0550" y="590550"/>
            <a:ext cx="1028700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33405C"/>
                </a:solidFill>
                <a:latin typeface="Segoe UI"/>
              </a:rPr>
              <a:t>Выделить расчет показателей в отдельный завершающий этап</a:t>
            </a:r>
          </a:p>
        </p:txBody>
      </p:sp>
      <p:sp>
        <p:nvSpPr>
          <p:cNvPr id="5" name="Rectangle 4"/>
          <p:cNvSpPr/>
          <p:nvPr/>
        </p:nvSpPr>
        <p:spPr>
          <a:xfrm>
            <a:off x="590550" y="1123950"/>
            <a:ext cx="704850" cy="38100"/>
          </a:xfrm>
          <a:prstGeom prst="rect">
            <a:avLst/>
          </a:prstGeom>
          <a:solidFill>
            <a:srgbClr val="8DB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753600" y="64389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 spc="100">
                <a:solidFill>
                  <a:srgbClr val="A8B1C4"/>
                </a:solidFill>
                <a:latin typeface="Segoe UI"/>
              </a:rPr>
              <a:t>6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90550" y="1905000"/>
            <a:ext cx="6667500" cy="419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90550" y="1905000"/>
            <a:ext cx="57150" cy="4191000"/>
          </a:xfrm>
          <a:prstGeom prst="rect">
            <a:avLst/>
          </a:prstGeom>
          <a:solidFill>
            <a:srgbClr val="526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38200" y="2114550"/>
            <a:ext cx="6172200" cy="381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937" b="1" spc="80" cap="all">
                <a:solidFill>
                  <a:srgbClr val="52648A"/>
                </a:solidFill>
                <a:latin typeface="Segoe UI"/>
              </a:rPr>
              <a:t>Что меняем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A4358"/>
                </a:solidFill>
                <a:latin typeface="Segoe UI"/>
              </a:rPr>
              <a:t>Сейчас этапов закрытия два: "1. Утренние операции" и "2. Вечерние операции". Добавляем третий — </a:t>
            </a:r>
            <a:r>
              <a:rPr sz="1200" b="1">
                <a:solidFill>
                  <a:srgbClr val="33405C"/>
                </a:solidFill>
                <a:latin typeface="Segoe UI"/>
              </a:rPr>
              <a:t>"3. Расчет СЧА/РСА"</a:t>
            </a:r>
            <a:r>
              <a:rPr sz="1200" b="0">
                <a:solidFill>
                  <a:srgbClr val="3A4358"/>
                </a:solidFill>
                <a:latin typeface="Segoe UI"/>
              </a:rPr>
              <a:t> — и переносим в него расчет показателей вместе со связанными контрольными операциями. Этап стартует после того, как все вечерние операции по всем договорам завершены.</a:t>
            </a:r>
          </a:p>
          <a:p>
            <a:pPr algn="l">
              <a:lnSpc>
                <a:spcPct val="135000"/>
              </a:lnSpc>
              <a:spcBef>
                <a:spcPts val="1300"/>
              </a:spcBef>
              <a:spcAft>
                <a:spcPts val="400"/>
              </a:spcAft>
            </a:pPr>
            <a:r>
              <a:rPr sz="937" b="1" spc="80" cap="all">
                <a:solidFill>
                  <a:srgbClr val="52648A"/>
                </a:solidFill>
                <a:latin typeface="Segoe UI"/>
              </a:rPr>
              <a:t>Зачем это нужно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A4358"/>
                </a:solidFill>
                <a:latin typeface="Segoe UI"/>
              </a:rPr>
              <a:t>Показатели считаются по остаткам, которые формируются в ходе самого закрытия: переоценки, начисления, резервы. Посчитать их сразу по всем договорам можно только тогда, когда все эти операции уже завершены. </a:t>
            </a:r>
            <a:r>
              <a:rPr sz="1200" b="1">
                <a:solidFill>
                  <a:srgbClr val="33405C"/>
                </a:solidFill>
                <a:latin typeface="Segoe UI"/>
              </a:rPr>
              <a:t>Без отдельного этапа пакетный расчет технически невозможен.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05700" y="1905000"/>
            <a:ext cx="4095750" cy="4191000"/>
          </a:xfrm>
          <a:prstGeom prst="rect">
            <a:avLst/>
          </a:prstGeom>
          <a:solidFill>
            <a:srgbClr val="FEFCF6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7505700" y="1905000"/>
            <a:ext cx="57150" cy="4191000"/>
          </a:xfrm>
          <a:prstGeom prst="rect">
            <a:avLst/>
          </a:prstGeom>
          <a:solidFill>
            <a:srgbClr val="B98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753350" y="2114550"/>
            <a:ext cx="3600450" cy="381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575" b="1">
                <a:solidFill>
                  <a:srgbClr val="6E5313"/>
                </a:solidFill>
                <a:latin typeface="Segoe UI"/>
              </a:rPr>
              <a:t>Что именно согласовываем</a:t>
            </a:r>
          </a:p>
          <a:p>
            <a:pPr algn="l">
              <a:lnSpc>
                <a:spcPct val="135000"/>
              </a:lnSpc>
              <a:spcBef>
                <a:spcPts val="1300"/>
              </a:spcBef>
              <a:spcAft>
                <a:spcPts val="400"/>
              </a:spcAft>
            </a:pPr>
            <a:r>
              <a:rPr sz="937" b="1" spc="80" cap="all">
                <a:solidFill>
                  <a:srgbClr val="B98A22"/>
                </a:solidFill>
                <a:latin typeface="Segoe UI"/>
              </a:rPr>
              <a:t>Появление третьего этапа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A4358"/>
                </a:solidFill>
                <a:latin typeface="Segoe UI"/>
              </a:rPr>
              <a:t>В списке групп регламентных операций добавится этап "3. Расчет СЧА/РСА".</a:t>
            </a:r>
          </a:p>
          <a:p>
            <a:pPr algn="l">
              <a:lnSpc>
                <a:spcPct val="135000"/>
              </a:lnSpc>
              <a:spcBef>
                <a:spcPts val="1300"/>
              </a:spcBef>
              <a:spcAft>
                <a:spcPts val="400"/>
              </a:spcAft>
            </a:pPr>
            <a:r>
              <a:rPr sz="937" b="1" spc="80" cap="all">
                <a:solidFill>
                  <a:srgbClr val="B98A22"/>
                </a:solidFill>
                <a:latin typeface="Segoe UI"/>
              </a:rPr>
              <a:t>Третий документ плана за день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A4358"/>
                </a:solidFill>
                <a:latin typeface="Segoe UI"/>
              </a:rPr>
              <a:t>По договору будет три документа "План регламентных операций ДУ" вместо двух: утро, вечер, расчет показателей.</a:t>
            </a:r>
          </a:p>
          <a:p>
            <a:pPr algn="l">
              <a:lnSpc>
                <a:spcPct val="135000"/>
              </a:lnSpc>
              <a:spcBef>
                <a:spcPts val="1300"/>
              </a:spcBef>
              <a:spcAft>
                <a:spcPts val="400"/>
              </a:spcAft>
            </a:pPr>
            <a:r>
              <a:rPr sz="937" b="1" spc="80" cap="all">
                <a:solidFill>
                  <a:srgbClr val="B98A22"/>
                </a:solidFill>
                <a:latin typeface="Segoe UI"/>
              </a:rPr>
              <a:t>Порядок запуска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A4358"/>
                </a:solidFill>
                <a:latin typeface="Segoe UI"/>
              </a:rPr>
              <a:t>Предлагаем автоматизировать: для оператора это остается одним действием.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1171" y="381000"/>
            <a:ext cx="1197429" cy="285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0550" y="3619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60" cap="all">
                <a:solidFill>
                  <a:srgbClr val="A8B1C4"/>
                </a:solidFill>
                <a:latin typeface="Segoe UI"/>
              </a:rPr>
              <a:t>Предложение 2 из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0550" y="590550"/>
            <a:ext cx="1028700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33405C"/>
                </a:solidFill>
                <a:latin typeface="Segoe UI"/>
              </a:rPr>
              <a:t>Считать показатели пакетно, по группам однотипных договоров</a:t>
            </a:r>
          </a:p>
        </p:txBody>
      </p:sp>
      <p:sp>
        <p:nvSpPr>
          <p:cNvPr id="5" name="Rectangle 4"/>
          <p:cNvSpPr/>
          <p:nvPr/>
        </p:nvSpPr>
        <p:spPr>
          <a:xfrm>
            <a:off x="590550" y="1123950"/>
            <a:ext cx="704850" cy="38100"/>
          </a:xfrm>
          <a:prstGeom prst="rect">
            <a:avLst/>
          </a:prstGeom>
          <a:solidFill>
            <a:srgbClr val="8DB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753600" y="64389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 spc="100">
                <a:solidFill>
                  <a:srgbClr val="A8B1C4"/>
                </a:solidFill>
                <a:latin typeface="Segoe UI"/>
              </a:rPr>
              <a:t>7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90550" y="1905000"/>
            <a:ext cx="7429500" cy="419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90550" y="1905000"/>
            <a:ext cx="57150" cy="4191000"/>
          </a:xfrm>
          <a:prstGeom prst="rect">
            <a:avLst/>
          </a:prstGeom>
          <a:solidFill>
            <a:srgbClr val="526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38200" y="2114550"/>
            <a:ext cx="6934200" cy="381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937" b="1" spc="80" cap="all">
                <a:solidFill>
                  <a:srgbClr val="52648A"/>
                </a:solidFill>
                <a:latin typeface="Segoe UI"/>
              </a:rPr>
              <a:t>Что меняем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A4358"/>
                </a:solidFill>
                <a:latin typeface="Segoe UI"/>
              </a:rPr>
              <a:t>Вместо отдельного расчета по каждому договору система считает </a:t>
            </a:r>
            <a:r>
              <a:rPr sz="1200" b="1">
                <a:solidFill>
                  <a:srgbClr val="33405C"/>
                </a:solidFill>
                <a:latin typeface="Segoe UI"/>
              </a:rPr>
              <a:t>сразу по группе договоров с одинаковыми настройками учетной политики</a:t>
            </a:r>
            <a:r>
              <a:rPr sz="1200" b="0">
                <a:solidFill>
                  <a:srgbClr val="3A4358"/>
                </a:solidFill>
                <a:latin typeface="Segoe UI"/>
              </a:rPr>
              <a:t>, а затем раскладывает готовый результат по договорам.</a:t>
            </a:r>
          </a:p>
          <a:p>
            <a:pPr algn="l">
              <a:lnSpc>
                <a:spcPct val="135000"/>
              </a:lnSpc>
              <a:spcBef>
                <a:spcPts val="1300"/>
              </a:spcBef>
              <a:spcAft>
                <a:spcPts val="400"/>
              </a:spcAft>
            </a:pPr>
            <a:r>
              <a:rPr sz="937" b="1" spc="80" cap="all">
                <a:solidFill>
                  <a:srgbClr val="52648A"/>
                </a:solidFill>
                <a:latin typeface="Segoe UI"/>
              </a:rPr>
              <a:t>Почему группами, а не все одним запросом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A4358"/>
                </a:solidFill>
                <a:latin typeface="Segoe UI"/>
              </a:rPr>
              <a:t>Состав данных зависит от параметров договора: ведется ли обособленный учет задолженности эмитента, как учитываются сделки РЕПО, к какому типу клиента относится портфель. Договоры с одинаковым набором параметров считать вместе можно, с разным — нельзя: результат исказится.</a:t>
            </a:r>
          </a:p>
          <a:p>
            <a:pPr algn="l">
              <a:lnSpc>
                <a:spcPct val="135000"/>
              </a:lnSpc>
              <a:spcBef>
                <a:spcPts val="1300"/>
              </a:spcBef>
              <a:spcAft>
                <a:spcPts val="400"/>
              </a:spcAft>
            </a:pPr>
            <a:r>
              <a:rPr sz="937" b="1" spc="80" cap="all">
                <a:solidFill>
                  <a:srgbClr val="52648A"/>
                </a:solidFill>
                <a:latin typeface="Segoe UI"/>
              </a:rPr>
              <a:t>Что это дает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A4358"/>
                </a:solidFill>
                <a:latin typeface="Segoe UI"/>
              </a:rPr>
              <a:t>Розничные портфели настроены однотипно, поэтому вместо 22 000 отдельных расчетов система выполнит </a:t>
            </a:r>
            <a:r>
              <a:rPr sz="1200" b="1">
                <a:solidFill>
                  <a:srgbClr val="33405C"/>
                </a:solidFill>
                <a:latin typeface="Segoe UI"/>
              </a:rPr>
              <a:t>несколько групповых запросов</a:t>
            </a:r>
            <a:r>
              <a:rPr sz="1200" b="0">
                <a:solidFill>
                  <a:srgbClr val="3A4358"/>
                </a:solidFill>
                <a:latin typeface="Segoe UI"/>
              </a:rPr>
              <a:t>. Логика расчета остается той же — меняется только объем данных за одно обращение.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05800" y="1905000"/>
            <a:ext cx="3295650" cy="1219200"/>
          </a:xfrm>
          <a:prstGeom prst="rect">
            <a:avLst/>
          </a:prstGeom>
          <a:solidFill>
            <a:srgbClr val="F3F5F8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8305800" y="1905000"/>
            <a:ext cx="3295650" cy="38100"/>
          </a:xfrm>
          <a:prstGeom prst="rect">
            <a:avLst/>
          </a:prstGeom>
          <a:solidFill>
            <a:srgbClr val="A8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439150" y="2238375"/>
            <a:ext cx="30289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3300" b="1">
                <a:solidFill>
                  <a:srgbClr val="A8423F"/>
                </a:solidFill>
                <a:latin typeface="Segoe UI"/>
              </a:rPr>
              <a:t>110 000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6A7488"/>
                </a:solidFill>
                <a:latin typeface="Segoe UI"/>
              </a:rPr>
              <a:t>обращений к базе
по этому блоку сейчас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05800" y="3295650"/>
            <a:ext cx="3295650" cy="1219200"/>
          </a:xfrm>
          <a:prstGeom prst="rect">
            <a:avLst/>
          </a:prstGeom>
          <a:solidFill>
            <a:srgbClr val="F3F5F8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8305800" y="3295650"/>
            <a:ext cx="3295650" cy="38100"/>
          </a:xfrm>
          <a:prstGeom prst="rect">
            <a:avLst/>
          </a:prstGeom>
          <a:solidFill>
            <a:srgbClr val="2E7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439150" y="3629025"/>
            <a:ext cx="30289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3300" b="1">
                <a:solidFill>
                  <a:srgbClr val="2E7D64"/>
                </a:solidFill>
                <a:latin typeface="Segoe UI"/>
              </a:rPr>
              <a:t>десятки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6A7488"/>
                </a:solidFill>
                <a:latin typeface="Segoe UI"/>
              </a:rPr>
              <a:t>обращений к базе
после доработки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05800" y="4686300"/>
            <a:ext cx="3295650" cy="1409700"/>
          </a:xfrm>
          <a:prstGeom prst="rect">
            <a:avLst/>
          </a:prstGeom>
          <a:solidFill>
            <a:srgbClr val="E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305800" y="4686300"/>
            <a:ext cx="47625" cy="1409700"/>
          </a:xfrm>
          <a:prstGeom prst="rect">
            <a:avLst/>
          </a:prstGeom>
          <a:solidFill>
            <a:srgbClr val="2E7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96300" y="4829175"/>
            <a:ext cx="2914650" cy="1162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125" b="1">
                <a:solidFill>
                  <a:srgbClr val="24604F"/>
                </a:solidFill>
                <a:latin typeface="Segoe UI"/>
              </a:rPr>
              <a:t>Что согласовываем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A4358"/>
                </a:solidFill>
                <a:latin typeface="Segoe UI"/>
              </a:rPr>
              <a:t>Подход и критерий приемки: суммы должны совпасть с текущими </a:t>
            </a:r>
            <a:r>
              <a:rPr sz="1200" b="1">
                <a:solidFill>
                  <a:srgbClr val="33405C"/>
                </a:solidFill>
                <a:latin typeface="Segoe UI"/>
              </a:rPr>
              <a:t>полностью, до копейки</a:t>
            </a:r>
            <a:r>
              <a:rPr sz="1200" b="0">
                <a:solidFill>
                  <a:srgbClr val="3A4358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1171" y="381000"/>
            <a:ext cx="1197429" cy="285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0550" y="3619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60" cap="all">
                <a:solidFill>
                  <a:srgbClr val="A8B1C4"/>
                </a:solidFill>
                <a:latin typeface="Segoe UI"/>
              </a:rPr>
              <a:t>Схема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0550" y="590550"/>
            <a:ext cx="1028700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33405C"/>
                </a:solidFill>
                <a:latin typeface="Segoe UI"/>
              </a:rPr>
              <a:t>Как есть и как будет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0550" y="1123950"/>
            <a:ext cx="704850" cy="38100"/>
          </a:xfrm>
          <a:prstGeom prst="rect">
            <a:avLst/>
          </a:prstGeom>
          <a:solidFill>
            <a:srgbClr val="8DB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753600" y="64389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 spc="100">
                <a:solidFill>
                  <a:srgbClr val="A8B1C4"/>
                </a:solidFill>
                <a:latin typeface="Segoe UI"/>
              </a:rPr>
              <a:t>8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0550" y="16954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spc="100" cap="all">
                <a:solidFill>
                  <a:srgbClr val="6A7488"/>
                </a:solidFill>
                <a:latin typeface="Segoe UI"/>
              </a:rPr>
              <a:t>Как есть: расчет внутри общей очереди по каждому договору</a:t>
            </a:r>
          </a:p>
        </p:txBody>
      </p:sp>
      <p:sp>
        <p:nvSpPr>
          <p:cNvPr id="8" name="Rectangle 7"/>
          <p:cNvSpPr/>
          <p:nvPr/>
        </p:nvSpPr>
        <p:spPr>
          <a:xfrm>
            <a:off x="590550" y="2000250"/>
            <a:ext cx="1676400" cy="742950"/>
          </a:xfrm>
          <a:prstGeom prst="rect">
            <a:avLst/>
          </a:prstGeom>
          <a:solidFill>
            <a:srgbClr val="F3F5F8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04850" y="2152650"/>
            <a:ext cx="144780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25" b="1">
                <a:solidFill>
                  <a:srgbClr val="33405C"/>
                </a:solidFill>
                <a:latin typeface="Segoe UI"/>
              </a:rPr>
              <a:t>Договор 1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87" b="0">
                <a:solidFill>
                  <a:srgbClr val="3A4358"/>
                </a:solidFill>
                <a:latin typeface="Segoe UI"/>
              </a:rPr>
              <a:t>операции закрытия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66950" y="2266950"/>
            <a:ext cx="2476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A8B1C4"/>
                </a:solidFill>
                <a:latin typeface="Segoe UI"/>
              </a:rPr>
              <a:t>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14600" y="2000250"/>
            <a:ext cx="1676400" cy="742950"/>
          </a:xfrm>
          <a:prstGeom prst="rect">
            <a:avLst/>
          </a:prstGeom>
          <a:solidFill>
            <a:srgbClr val="F8ECEB"/>
          </a:solidFill>
          <a:ln w="9525">
            <a:solidFill>
              <a:srgbClr val="E3C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628900" y="2152650"/>
            <a:ext cx="144780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25" b="1">
                <a:solidFill>
                  <a:srgbClr val="33405C"/>
                </a:solidFill>
                <a:latin typeface="Segoe UI"/>
              </a:rPr>
              <a:t>Договор 1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87" b="0">
                <a:solidFill>
                  <a:srgbClr val="3A4358"/>
                </a:solidFill>
                <a:latin typeface="Segoe UI"/>
              </a:rPr>
              <a:t>расчет СЧА/РСА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91000" y="2266950"/>
            <a:ext cx="2476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A8B1C4"/>
                </a:solidFill>
                <a:latin typeface="Segoe UI"/>
              </a:rPr>
              <a:t>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8650" y="2000250"/>
            <a:ext cx="1676400" cy="742950"/>
          </a:xfrm>
          <a:prstGeom prst="rect">
            <a:avLst/>
          </a:prstGeom>
          <a:solidFill>
            <a:srgbClr val="F3F5F8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552950" y="2152650"/>
            <a:ext cx="144780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25" b="1">
                <a:solidFill>
                  <a:srgbClr val="33405C"/>
                </a:solidFill>
                <a:latin typeface="Segoe UI"/>
              </a:rPr>
              <a:t>Договор 2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87" b="0">
                <a:solidFill>
                  <a:srgbClr val="3A4358"/>
                </a:solidFill>
                <a:latin typeface="Segoe UI"/>
              </a:rPr>
              <a:t>операции закрытия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15050" y="2266950"/>
            <a:ext cx="2476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A8B1C4"/>
                </a:solidFill>
                <a:latin typeface="Segoe UI"/>
              </a:rPr>
              <a:t>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62700" y="2000250"/>
            <a:ext cx="1676400" cy="742950"/>
          </a:xfrm>
          <a:prstGeom prst="rect">
            <a:avLst/>
          </a:prstGeom>
          <a:solidFill>
            <a:srgbClr val="F8ECEB"/>
          </a:solidFill>
          <a:ln w="9525">
            <a:solidFill>
              <a:srgbClr val="E3C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77000" y="2152650"/>
            <a:ext cx="144780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25" b="1">
                <a:solidFill>
                  <a:srgbClr val="33405C"/>
                </a:solidFill>
                <a:latin typeface="Segoe UI"/>
              </a:rPr>
              <a:t>Договор 2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87" b="0">
                <a:solidFill>
                  <a:srgbClr val="3A4358"/>
                </a:solidFill>
                <a:latin typeface="Segoe UI"/>
              </a:rPr>
              <a:t>расчет СЧА/РСА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39100" y="2266950"/>
            <a:ext cx="381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A8B1C4"/>
                </a:solidFill>
                <a:latin typeface="Segoe UI"/>
              </a:rPr>
              <a:t>...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20100" y="2000250"/>
            <a:ext cx="1600200" cy="742950"/>
          </a:xfrm>
          <a:prstGeom prst="rect">
            <a:avLst/>
          </a:prstGeom>
          <a:solidFill>
            <a:srgbClr val="F8ECEB"/>
          </a:solidFill>
          <a:ln w="9525">
            <a:solidFill>
              <a:srgbClr val="E3C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534400" y="2152650"/>
            <a:ext cx="137160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25" b="1">
                <a:solidFill>
                  <a:srgbClr val="33405C"/>
                </a:solidFill>
                <a:latin typeface="Segoe UI"/>
              </a:rPr>
              <a:t>x 22 000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87" b="0">
                <a:solidFill>
                  <a:srgbClr val="3A4358"/>
                </a:solidFill>
                <a:latin typeface="Segoe UI"/>
              </a:rPr>
              <a:t>договоров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0550" y="320040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spc="100" cap="all">
                <a:solidFill>
                  <a:srgbClr val="6A7488"/>
                </a:solidFill>
                <a:latin typeface="Segoe UI"/>
              </a:rPr>
              <a:t>Как будет: два этапа, расчет один раз на всех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0550" y="3505200"/>
            <a:ext cx="3390900" cy="876300"/>
          </a:xfrm>
          <a:prstGeom prst="rect">
            <a:avLst/>
          </a:prstGeom>
          <a:solidFill>
            <a:srgbClr val="F3F5F8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04850" y="3657600"/>
            <a:ext cx="3162300" cy="62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25" b="1">
                <a:solidFill>
                  <a:srgbClr val="33405C"/>
                </a:solidFill>
                <a:latin typeface="Segoe UI"/>
              </a:rPr>
              <a:t>Этап 2. Вечерние операции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87" b="0">
                <a:solidFill>
                  <a:srgbClr val="3A4358"/>
                </a:solidFill>
                <a:latin typeface="Segoe UI"/>
              </a:rPr>
              <a:t>все операции закрытия по всем 22 000 договоров, как сейчас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81450" y="3829050"/>
            <a:ext cx="2476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A8B1C4"/>
                </a:solidFill>
                <a:latin typeface="Segoe UI"/>
              </a:rPr>
              <a:t>&gt;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29100" y="3505200"/>
            <a:ext cx="3390900" cy="876300"/>
          </a:xfrm>
          <a:prstGeom prst="rect">
            <a:avLst/>
          </a:prstGeom>
          <a:solidFill>
            <a:srgbClr val="E7F2EE"/>
          </a:solidFill>
          <a:ln w="9525">
            <a:solidFill>
              <a:srgbClr val="C3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343400" y="3657600"/>
            <a:ext cx="3162300" cy="62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25" b="1">
                <a:solidFill>
                  <a:srgbClr val="33405C"/>
                </a:solidFill>
                <a:latin typeface="Segoe UI"/>
              </a:rPr>
              <a:t>Этап 3. Расчет СЧА/РСА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87" b="0">
                <a:solidFill>
                  <a:srgbClr val="3A4358"/>
                </a:solidFill>
                <a:latin typeface="Segoe UI"/>
              </a:rPr>
              <a:t>групповой расчет показателей сразу по всем договорам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0000" y="3829050"/>
            <a:ext cx="2476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A8B1C4"/>
                </a:solidFill>
                <a:latin typeface="Segoe UI"/>
              </a:rPr>
              <a:t>&gt;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67650" y="3505200"/>
            <a:ext cx="3390900" cy="876300"/>
          </a:xfrm>
          <a:prstGeom prst="rect">
            <a:avLst/>
          </a:prstGeom>
          <a:solidFill>
            <a:srgbClr val="F3F5F8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981950" y="3657600"/>
            <a:ext cx="3162300" cy="62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25" b="1">
                <a:solidFill>
                  <a:srgbClr val="33405C"/>
                </a:solidFill>
                <a:latin typeface="Segoe UI"/>
              </a:rPr>
              <a:t>Запись документов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87" b="0">
                <a:solidFill>
                  <a:srgbClr val="3A4358"/>
                </a:solidFill>
                <a:latin typeface="Segoe UI"/>
              </a:rPr>
              <a:t>те же документы по каждому договору, с той же датой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0550" y="4762500"/>
            <a:ext cx="11010900" cy="914400"/>
          </a:xfrm>
          <a:prstGeom prst="rect">
            <a:avLst/>
          </a:prstGeom>
          <a:solidFill>
            <a:srgbClr val="DC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590550" y="4762500"/>
            <a:ext cx="47625" cy="914400"/>
          </a:xfrm>
          <a:prstGeom prst="rect">
            <a:avLst/>
          </a:prstGeom>
          <a:solidFill>
            <a:srgbClr val="8DB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81050" y="4905375"/>
            <a:ext cx="1062990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3A4358"/>
                </a:solidFill>
                <a:latin typeface="Segoe UI"/>
              </a:rPr>
              <a:t>Порядок операций внутри этапа сохраняется, зависимости между расчетом показателей и контрольными операциями не нарушаются. Меняется только момент и способ получения данных.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1171" y="381000"/>
            <a:ext cx="1197429" cy="285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0550" y="3619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60" cap="all">
                <a:solidFill>
                  <a:srgbClr val="A8B1C4"/>
                </a:solidFill>
                <a:latin typeface="Segoe UI"/>
              </a:rPr>
              <a:t>Границы изменений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0550" y="590550"/>
            <a:ext cx="1028700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33405C"/>
                </a:solidFill>
                <a:latin typeface="Segoe UI"/>
              </a:rPr>
              <a:t>Что при этом не меняется</a:t>
            </a:r>
          </a:p>
        </p:txBody>
      </p:sp>
      <p:sp>
        <p:nvSpPr>
          <p:cNvPr id="5" name="Rectangle 4"/>
          <p:cNvSpPr/>
          <p:nvPr/>
        </p:nvSpPr>
        <p:spPr>
          <a:xfrm>
            <a:off x="590550" y="1123950"/>
            <a:ext cx="704850" cy="38100"/>
          </a:xfrm>
          <a:prstGeom prst="rect">
            <a:avLst/>
          </a:prstGeom>
          <a:solidFill>
            <a:srgbClr val="8DB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753600" y="64389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 spc="100">
                <a:solidFill>
                  <a:srgbClr val="A8B1C4"/>
                </a:solidFill>
                <a:latin typeface="Segoe UI"/>
              </a:rPr>
              <a:t>9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90550" y="1809750"/>
            <a:ext cx="3581400" cy="1123950"/>
          </a:xfrm>
          <a:prstGeom prst="rect">
            <a:avLst/>
          </a:prstGeom>
          <a:solidFill>
            <a:srgbClr val="E7F2EE"/>
          </a:solidFill>
          <a:ln w="9525">
            <a:solidFill>
              <a:srgbClr val="C9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62000" y="1981200"/>
            <a:ext cx="3238500" cy="838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37" b="1">
                <a:solidFill>
                  <a:srgbClr val="24604F"/>
                </a:solidFill>
                <a:latin typeface="Segoe UI"/>
              </a:rPr>
              <a:t>Методика расчета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87" b="0">
                <a:solidFill>
                  <a:srgbClr val="3E5A52"/>
                </a:solidFill>
                <a:latin typeface="Segoe UI"/>
              </a:rPr>
              <a:t>Формулы, состав счетов и регистров, правила исключения и вычитания — тот же алгоритм</a:t>
            </a:r>
          </a:p>
        </p:txBody>
      </p:sp>
      <p:sp>
        <p:nvSpPr>
          <p:cNvPr id="9" name="Rectangle 8"/>
          <p:cNvSpPr/>
          <p:nvPr/>
        </p:nvSpPr>
        <p:spPr>
          <a:xfrm>
            <a:off x="4305300" y="1809750"/>
            <a:ext cx="3581400" cy="1123950"/>
          </a:xfrm>
          <a:prstGeom prst="rect">
            <a:avLst/>
          </a:prstGeom>
          <a:solidFill>
            <a:srgbClr val="E7F2EE"/>
          </a:solidFill>
          <a:ln w="9525">
            <a:solidFill>
              <a:srgbClr val="C9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476750" y="1981200"/>
            <a:ext cx="3238500" cy="838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37" b="1">
                <a:solidFill>
                  <a:srgbClr val="24604F"/>
                </a:solidFill>
                <a:latin typeface="Segoe UI"/>
              </a:rPr>
              <a:t>Суммы показателей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87" b="0">
                <a:solidFill>
                  <a:srgbClr val="3E5A52"/>
                </a:solidFill>
                <a:latin typeface="Segoe UI"/>
              </a:rPr>
              <a:t>Результат совпадает до копейки. Это критерий приемки работ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20050" y="1809750"/>
            <a:ext cx="3581400" cy="1123950"/>
          </a:xfrm>
          <a:prstGeom prst="rect">
            <a:avLst/>
          </a:prstGeom>
          <a:solidFill>
            <a:srgbClr val="E7F2EE"/>
          </a:solidFill>
          <a:ln w="9525">
            <a:solidFill>
              <a:srgbClr val="C9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191500" y="1981200"/>
            <a:ext cx="3238500" cy="838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37" b="1">
                <a:solidFill>
                  <a:srgbClr val="24604F"/>
                </a:solidFill>
                <a:latin typeface="Segoe UI"/>
              </a:rPr>
              <a:t>Документы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87" b="0">
                <a:solidFill>
                  <a:srgbClr val="3E5A52"/>
                </a:solidFill>
                <a:latin typeface="Segoe UI"/>
              </a:rPr>
              <a:t>Те же документы по каждому договору, с той же датой и временем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0550" y="3067050"/>
            <a:ext cx="3581400" cy="1123950"/>
          </a:xfrm>
          <a:prstGeom prst="rect">
            <a:avLst/>
          </a:prstGeom>
          <a:solidFill>
            <a:srgbClr val="E7F2EE"/>
          </a:solidFill>
          <a:ln w="9525">
            <a:solidFill>
              <a:srgbClr val="C9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62000" y="3238500"/>
            <a:ext cx="3238500" cy="838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37" b="1">
                <a:solidFill>
                  <a:srgbClr val="24604F"/>
                </a:solidFill>
                <a:latin typeface="Segoe UI"/>
              </a:rPr>
              <a:t>Справка-расчет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87" b="0">
                <a:solidFill>
                  <a:srgbClr val="3E5A52"/>
                </a:solidFill>
                <a:latin typeface="Segoe UI"/>
              </a:rPr>
              <a:t>Тот же состав и та же детализация по показателям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05300" y="3067050"/>
            <a:ext cx="3581400" cy="1123950"/>
          </a:xfrm>
          <a:prstGeom prst="rect">
            <a:avLst/>
          </a:prstGeom>
          <a:solidFill>
            <a:srgbClr val="E7F2EE"/>
          </a:solidFill>
          <a:ln w="9525">
            <a:solidFill>
              <a:srgbClr val="C9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476750" y="3238500"/>
            <a:ext cx="3238500" cy="838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37" b="1">
                <a:solidFill>
                  <a:srgbClr val="24604F"/>
                </a:solidFill>
                <a:latin typeface="Segoe UI"/>
              </a:rPr>
              <a:t>Отчетность в Банк России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87" b="0">
                <a:solidFill>
                  <a:srgbClr val="3E5A52"/>
                </a:solidFill>
                <a:latin typeface="Segoe UI"/>
              </a:rPr>
              <a:t>Источник данных и его содержимое не меняются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20050" y="3067050"/>
            <a:ext cx="3581400" cy="1123950"/>
          </a:xfrm>
          <a:prstGeom prst="rect">
            <a:avLst/>
          </a:prstGeom>
          <a:solidFill>
            <a:srgbClr val="E7F2EE"/>
          </a:solidFill>
          <a:ln w="9525">
            <a:solidFill>
              <a:srgbClr val="C9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191500" y="3238500"/>
            <a:ext cx="3238500" cy="838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37" b="1">
                <a:solidFill>
                  <a:srgbClr val="24604F"/>
                </a:solidFill>
                <a:latin typeface="Segoe UI"/>
              </a:rPr>
              <a:t>Права и интерфейсы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87" b="0">
                <a:solidFill>
                  <a:srgbClr val="3E5A52"/>
                </a:solidFill>
                <a:latin typeface="Segoe UI"/>
              </a:rPr>
              <a:t>Роли, права доступа и формы отчетов не затрагиваются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0550" y="4476750"/>
            <a:ext cx="11010900" cy="1066800"/>
          </a:xfrm>
          <a:prstGeom prst="rect">
            <a:avLst/>
          </a:prstGeom>
          <a:solidFill>
            <a:srgbClr val="E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590550" y="4476750"/>
            <a:ext cx="47625" cy="1066800"/>
          </a:xfrm>
          <a:prstGeom prst="rect">
            <a:avLst/>
          </a:prstGeom>
          <a:solidFill>
            <a:srgbClr val="2E7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81050" y="4619625"/>
            <a:ext cx="10629900" cy="819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4604F"/>
                </a:solidFill>
                <a:latin typeface="Segoe UI"/>
              </a:rPr>
              <a:t>Это техническая оптимизация, а не изменение учета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3A4358"/>
                </a:solidFill>
                <a:latin typeface="Segoe UI"/>
              </a:rPr>
              <a:t>Меняется </a:t>
            </a:r>
            <a:r>
              <a:rPr sz="1275" b="1">
                <a:solidFill>
                  <a:srgbClr val="33405C"/>
                </a:solidFill>
                <a:latin typeface="Segoe UI"/>
              </a:rPr>
              <a:t>когда</a:t>
            </a:r>
            <a:r>
              <a:rPr sz="1275" b="0">
                <a:solidFill>
                  <a:srgbClr val="3A4358"/>
                </a:solidFill>
                <a:latin typeface="Segoe UI"/>
              </a:rPr>
              <a:t> и </a:t>
            </a:r>
            <a:r>
              <a:rPr sz="1275" b="1">
                <a:solidFill>
                  <a:srgbClr val="33405C"/>
                </a:solidFill>
                <a:latin typeface="Segoe UI"/>
              </a:rPr>
              <a:t>каким запросом</a:t>
            </a:r>
            <a:r>
              <a:rPr sz="1275" b="0">
                <a:solidFill>
                  <a:srgbClr val="3A4358"/>
                </a:solidFill>
                <a:latin typeface="Segoe UI"/>
              </a:rPr>
              <a:t> система получает данные. Что она считает и что записывает — остается прежним.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1171" y="381000"/>
            <a:ext cx="1197429" cy="285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0550" y="3619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60" cap="all">
                <a:solidFill>
                  <a:srgbClr val="A8B1C4"/>
                </a:solidFill>
                <a:latin typeface="Segoe UI"/>
              </a:rPr>
              <a:t>Эксплуатация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0550" y="590550"/>
            <a:ext cx="1028700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33405C"/>
                </a:solidFill>
                <a:latin typeface="Segoe UI"/>
              </a:rPr>
              <a:t>Что изменится в ежедневной работе</a:t>
            </a:r>
          </a:p>
        </p:txBody>
      </p:sp>
      <p:sp>
        <p:nvSpPr>
          <p:cNvPr id="5" name="Rectangle 4"/>
          <p:cNvSpPr/>
          <p:nvPr/>
        </p:nvSpPr>
        <p:spPr>
          <a:xfrm>
            <a:off x="590550" y="1123950"/>
            <a:ext cx="704850" cy="38100"/>
          </a:xfrm>
          <a:prstGeom prst="rect">
            <a:avLst/>
          </a:prstGeom>
          <a:solidFill>
            <a:srgbClr val="8DB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753600" y="64389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 spc="100">
                <a:solidFill>
                  <a:srgbClr val="A8B1C4"/>
                </a:solidFill>
                <a:latin typeface="Segoe UI"/>
              </a:rPr>
              <a:t>10 /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0550" y="1771650"/>
          <a:ext cx="11010900" cy="2743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303270"/>
                <a:gridCol w="7707630"/>
              </a:tblGrid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</a:rPr>
                        <a:t>Что</a:t>
                      </a:r>
                    </a:p>
                  </a:txBody>
                  <a:tcPr marL="133350" marR="114300" marT="85725" marB="85725" anchor="ctr">
                    <a:solidFill>
                      <a:srgbClr val="3340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</a:rPr>
                        <a:t>Как будет</a:t>
                      </a:r>
                    </a:p>
                  </a:txBody>
                  <a:tcPr marL="133350" marR="114300" marT="85725" marB="85725" anchor="ctr">
                    <a:solidFill>
                      <a:srgbClr val="33405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2" b="0">
                          <a:solidFill>
                            <a:srgbClr val="3A4358"/>
                          </a:solidFill>
                          <a:latin typeface="Segoe UI"/>
                        </a:rPr>
                        <a:t>Список этапов закрытия</a:t>
                      </a:r>
                    </a:p>
                  </a:txBody>
                  <a:tcPr marL="13335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2" b="0">
                          <a:solidFill>
                            <a:srgbClr val="3A4358"/>
                          </a:solidFill>
                          <a:latin typeface="Segoe UI"/>
                        </a:rPr>
                        <a:t>Появится третий этап — "3. Расчет СЧА/РСА"</a:t>
                      </a:r>
                    </a:p>
                  </a:txBody>
                  <a:tcPr marL="133350" marR="114300" marT="85725" marB="85725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2" b="0">
                          <a:solidFill>
                            <a:srgbClr val="3A4358"/>
                          </a:solidFill>
                          <a:latin typeface="Segoe UI"/>
                        </a:rPr>
                        <a:t>Порядок запуска</a:t>
                      </a:r>
                    </a:p>
                  </a:txBody>
                  <a:tcPr marL="133350" marR="114300" marT="85725" marB="85725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2" b="0">
                          <a:solidFill>
                            <a:srgbClr val="3A4358"/>
                          </a:solidFill>
                          <a:latin typeface="Segoe UI"/>
                        </a:rPr>
                        <a:t>Сначала вечерние операции, затем расчет показателей. Предлагаем автоматизировать, чтобы оператор по-прежнему выполнял одно действие</a:t>
                      </a:r>
                    </a:p>
                  </a:txBody>
                  <a:tcPr marL="133350" marR="114300" marT="85725" marB="85725" anchor="ctr"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2" b="0">
                          <a:solidFill>
                            <a:srgbClr val="3A4358"/>
                          </a:solidFill>
                          <a:latin typeface="Segoe UI"/>
                        </a:rPr>
                        <a:t>Документы плана операций</a:t>
                      </a:r>
                    </a:p>
                  </a:txBody>
                  <a:tcPr marL="13335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2" b="0">
                          <a:solidFill>
                            <a:srgbClr val="3A4358"/>
                          </a:solidFill>
                          <a:latin typeface="Segoe UI"/>
                        </a:rPr>
                        <a:t>Три документа по договору за день вместо двух. Ограничение уникальности документов это штатно допускает</a:t>
                      </a:r>
                    </a:p>
                  </a:txBody>
                  <a:tcPr marL="133350" marR="114300" marT="85725" marB="85725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2" b="0">
                          <a:solidFill>
                            <a:srgbClr val="3A4358"/>
                          </a:solidFill>
                          <a:latin typeface="Segoe UI"/>
                        </a:rPr>
                        <a:t>Контроль выполнения</a:t>
                      </a:r>
                    </a:p>
                  </a:txBody>
                  <a:tcPr marL="133350" marR="114300" marT="85725" marB="85725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2" b="0">
                          <a:solidFill>
                            <a:srgbClr val="3A4358"/>
                          </a:solidFill>
                          <a:latin typeface="Segoe UI"/>
                        </a:rPr>
                        <a:t>Работает как раньше. Пока этап не выполнен, операции видны в мониторе как невыполненные</a:t>
                      </a:r>
                    </a:p>
                  </a:txBody>
                  <a:tcPr marL="133350" marR="114300" marT="85725" marB="85725" anchor="ctr"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2" b="0">
                          <a:solidFill>
                            <a:srgbClr val="3A4358"/>
                          </a:solidFill>
                          <a:latin typeface="Segoe UI"/>
                        </a:rPr>
                        <a:t>Повторный прогон по договору</a:t>
                      </a:r>
                    </a:p>
                  </a:txBody>
                  <a:tcPr marL="13335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2" b="0">
                          <a:solidFill>
                            <a:srgbClr val="3A4358"/>
                          </a:solidFill>
                          <a:latin typeface="Segoe UI"/>
                        </a:rPr>
                        <a:t>При перезапуске вечерних операций показатели нужно пересчитать — предусмотрим это программно, не полагаясь на память оператора</a:t>
                      </a:r>
                    </a:p>
                  </a:txBody>
                  <a:tcPr marL="133350" marR="114300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90550" y="5257800"/>
            <a:ext cx="11010900" cy="857250"/>
          </a:xfrm>
          <a:prstGeom prst="rect">
            <a:avLst/>
          </a:prstGeom>
          <a:solidFill>
            <a:srgbClr val="FB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90550" y="5257800"/>
            <a:ext cx="47625" cy="857250"/>
          </a:xfrm>
          <a:prstGeom prst="rect">
            <a:avLst/>
          </a:prstGeom>
          <a:solidFill>
            <a:srgbClr val="B98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81050" y="5400675"/>
            <a:ext cx="106299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125" b="1">
                <a:solidFill>
                  <a:srgbClr val="6E5313"/>
                </a:solidFill>
                <a:latin typeface="Segoe UI"/>
              </a:rPr>
              <a:t>Безопасный режим отказа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A4358"/>
                </a:solidFill>
                <a:latin typeface="Segoe UI"/>
              </a:rPr>
              <a:t>Если третий этап не запустить, система </a:t>
            </a:r>
            <a:r>
              <a:rPr sz="1200" b="1">
                <a:solidFill>
                  <a:srgbClr val="33405C"/>
                </a:solidFill>
                <a:latin typeface="Segoe UI"/>
              </a:rPr>
              <a:t>не выдаст неверные цифры</a:t>
            </a:r>
            <a:r>
              <a:rPr sz="1200" b="0">
                <a:solidFill>
                  <a:srgbClr val="3A4358"/>
                </a:solidFill>
                <a:latin typeface="Segoe UI"/>
              </a:rPr>
              <a:t>: показатели просто не будут рассчитаны, и это сразу видно в мониторе как невыполненная операция.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1171" y="381000"/>
            <a:ext cx="1197429" cy="285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0550" y="3619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60" cap="all">
                <a:solidFill>
                  <a:srgbClr val="A8B1C4"/>
                </a:solidFill>
                <a:latin typeface="Segoe UI"/>
              </a:rPr>
              <a:t>Эффект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0550" y="590550"/>
            <a:ext cx="1028700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33405C"/>
                </a:solidFill>
                <a:latin typeface="Segoe UI"/>
              </a:rPr>
              <a:t>Что получаем и как это проверим</a:t>
            </a:r>
          </a:p>
        </p:txBody>
      </p:sp>
      <p:sp>
        <p:nvSpPr>
          <p:cNvPr id="5" name="Rectangle 4"/>
          <p:cNvSpPr/>
          <p:nvPr/>
        </p:nvSpPr>
        <p:spPr>
          <a:xfrm>
            <a:off x="590550" y="1123950"/>
            <a:ext cx="704850" cy="38100"/>
          </a:xfrm>
          <a:prstGeom prst="rect">
            <a:avLst/>
          </a:prstGeom>
          <a:solidFill>
            <a:srgbClr val="8DB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753600" y="64389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 spc="100">
                <a:solidFill>
                  <a:srgbClr val="A8B1C4"/>
                </a:solidFill>
                <a:latin typeface="Segoe UI"/>
              </a:rPr>
              <a:t>11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90550" y="1866900"/>
            <a:ext cx="3486150" cy="1181100"/>
          </a:xfrm>
          <a:prstGeom prst="rect">
            <a:avLst/>
          </a:prstGeom>
          <a:solidFill>
            <a:srgbClr val="F3F5F8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90550" y="1866900"/>
            <a:ext cx="3486150" cy="38100"/>
          </a:xfrm>
          <a:prstGeom prst="rect">
            <a:avLst/>
          </a:prstGeom>
          <a:solidFill>
            <a:srgbClr val="2E7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0100" y="2076450"/>
            <a:ext cx="306705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425" b="1">
                <a:solidFill>
                  <a:srgbClr val="33405C"/>
                </a:solidFill>
                <a:latin typeface="Segoe UI"/>
              </a:rPr>
              <a:t>Быстрее прогон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A4358"/>
                </a:solidFill>
                <a:latin typeface="Segoe UI"/>
              </a:rPr>
              <a:t>Число тяжелых обращений к базе по блоку СЧА/РСА сокращается на порядок — с десятков тысяч до десятков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52925" y="1866900"/>
            <a:ext cx="3486150" cy="1181100"/>
          </a:xfrm>
          <a:prstGeom prst="rect">
            <a:avLst/>
          </a:prstGeom>
          <a:solidFill>
            <a:srgbClr val="F3F5F8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352925" y="1866900"/>
            <a:ext cx="3486150" cy="38100"/>
          </a:xfrm>
          <a:prstGeom prst="rect">
            <a:avLst/>
          </a:prstGeom>
          <a:solidFill>
            <a:srgbClr val="2E7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562475" y="2076450"/>
            <a:ext cx="306705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425" b="1">
                <a:solidFill>
                  <a:srgbClr val="33405C"/>
                </a:solidFill>
                <a:latin typeface="Segoe UI"/>
              </a:rPr>
              <a:t>Меньше нагрузки днем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A4358"/>
                </a:solidFill>
                <a:latin typeface="Segoe UI"/>
              </a:rPr>
              <a:t>Прогон меньше конкурирует с работой пользователей за ресурсы сервера в рабочие часы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15300" y="1866900"/>
            <a:ext cx="3486150" cy="1181100"/>
          </a:xfrm>
          <a:prstGeom prst="rect">
            <a:avLst/>
          </a:prstGeom>
          <a:solidFill>
            <a:srgbClr val="F3F5F8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8115300" y="1866900"/>
            <a:ext cx="3486150" cy="38100"/>
          </a:xfrm>
          <a:prstGeom prst="rect">
            <a:avLst/>
          </a:prstGeom>
          <a:solidFill>
            <a:srgbClr val="2E7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324850" y="2076450"/>
            <a:ext cx="306705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425" b="1">
                <a:solidFill>
                  <a:srgbClr val="33405C"/>
                </a:solidFill>
                <a:latin typeface="Segoe UI"/>
              </a:rPr>
              <a:t>Предсказуемость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A4358"/>
                </a:solidFill>
                <a:latin typeface="Segoe UI"/>
              </a:rPr>
              <a:t>Время расчета показателей начинает слабо зависеть от числа договоров, база может расти дальше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0550" y="3352800"/>
            <a:ext cx="5429250" cy="2038350"/>
          </a:xfrm>
          <a:prstGeom prst="rect">
            <a:avLst/>
          </a:prstGeom>
          <a:solidFill>
            <a:srgbClr val="DC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90550" y="3352800"/>
            <a:ext cx="47625" cy="2038350"/>
          </a:xfrm>
          <a:prstGeom prst="rect">
            <a:avLst/>
          </a:prstGeom>
          <a:solidFill>
            <a:srgbClr val="8DB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81050" y="3495675"/>
            <a:ext cx="5048250" cy="1790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33405C"/>
                </a:solidFill>
                <a:latin typeface="Segoe UI"/>
              </a:rPr>
              <a:t>Замер до начала разработки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3A4358"/>
                </a:solidFill>
                <a:latin typeface="Segoe UI"/>
              </a:rPr>
              <a:t>На первом этапе мы измерим фактическую долю расчета СЧА/РСА в общем времени прогона и покажем ожидаемый выигрыш в цифрах. </a:t>
            </a:r>
            <a:r>
              <a:rPr sz="1275" b="1">
                <a:solidFill>
                  <a:srgbClr val="33405C"/>
                </a:solidFill>
                <a:latin typeface="Segoe UI"/>
              </a:rPr>
              <a:t>Если доля окажется небольшой — сообщим об этом и предложим направить усилия на другой участок.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352800"/>
            <a:ext cx="5429250" cy="2038350"/>
          </a:xfrm>
          <a:prstGeom prst="rect">
            <a:avLst/>
          </a:prstGeom>
          <a:solidFill>
            <a:srgbClr val="E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172200" y="3352800"/>
            <a:ext cx="47625" cy="2038350"/>
          </a:xfrm>
          <a:prstGeom prst="rect">
            <a:avLst/>
          </a:prstGeom>
          <a:solidFill>
            <a:srgbClr val="2E7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362700" y="3495675"/>
            <a:ext cx="5048250" cy="1790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4604F"/>
                </a:solidFill>
                <a:latin typeface="Segoe UI"/>
              </a:rPr>
              <a:t>Критерий приемки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3A4358"/>
                </a:solidFill>
                <a:latin typeface="Segoe UI"/>
              </a:rPr>
              <a:t>Полное совпадение сумм СЧА и РСА по всем договорам за контрольный день, до копейки, при сокращении времени этапа. Сверка "до и после" выполняется на копии продуктивной базы.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1171" y="381000"/>
            <a:ext cx="1197429" cy="285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0550" y="3619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60" cap="all">
                <a:solidFill>
                  <a:srgbClr val="A8B1C4"/>
                </a:solidFill>
                <a:latin typeface="Segoe UI"/>
              </a:rPr>
              <a:t>Управление риском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0550" y="590550"/>
            <a:ext cx="1028700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33405C"/>
                </a:solidFill>
                <a:latin typeface="Segoe UI"/>
              </a:rPr>
              <a:t>Риски и как мы их закрываем</a:t>
            </a:r>
          </a:p>
        </p:txBody>
      </p:sp>
      <p:sp>
        <p:nvSpPr>
          <p:cNvPr id="5" name="Rectangle 4"/>
          <p:cNvSpPr/>
          <p:nvPr/>
        </p:nvSpPr>
        <p:spPr>
          <a:xfrm>
            <a:off x="590550" y="1123950"/>
            <a:ext cx="704850" cy="38100"/>
          </a:xfrm>
          <a:prstGeom prst="rect">
            <a:avLst/>
          </a:prstGeom>
          <a:solidFill>
            <a:srgbClr val="8DB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753600" y="64389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 spc="100">
                <a:solidFill>
                  <a:srgbClr val="A8B1C4"/>
                </a:solidFill>
                <a:latin typeface="Segoe UI"/>
              </a:rPr>
              <a:t>12 /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0550" y="1771650"/>
          <a:ext cx="11010900" cy="3886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743706"/>
                <a:gridCol w="7267194"/>
              </a:tblGrid>
              <a:tr h="647700">
                <a:tc>
                  <a:txBody>
                    <a:bodyPr wrap="square"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</a:rPr>
                        <a:t>Риск</a:t>
                      </a:r>
                    </a:p>
                  </a:txBody>
                  <a:tcPr marL="133350" marR="114300" marT="85725" marB="85725" anchor="ctr">
                    <a:solidFill>
                      <a:srgbClr val="3340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</a:rPr>
                        <a:t>Как закрываем</a:t>
                      </a:r>
                    </a:p>
                  </a:txBody>
                  <a:tcPr marL="133350" marR="114300" marT="85725" marB="85725" anchor="ctr">
                    <a:solidFill>
                      <a:srgbClr val="33405C"/>
                    </a:solidFill>
                  </a:tcPr>
                </a:tc>
              </a:tr>
              <a:tr h="647700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2" b="0">
                          <a:solidFill>
                            <a:srgbClr val="3A4358"/>
                          </a:solidFill>
                          <a:latin typeface="Segoe UI"/>
                        </a:rPr>
                        <a:t>Расхождение сумм после доработки</a:t>
                      </a:r>
                    </a:p>
                  </a:txBody>
                  <a:tcPr marL="13335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2" b="0">
                          <a:solidFill>
                            <a:srgbClr val="3A4358"/>
                          </a:solidFill>
                          <a:latin typeface="Segoe UI"/>
                        </a:rPr>
                        <a:t>Внедряем в два шага: сначала переносим расчет в конец </a:t>
                      </a:r>
                      <a:r>
                        <a:rPr sz="1162" b="1">
                          <a:solidFill>
                            <a:srgbClr val="33405C"/>
                          </a:solidFill>
                          <a:latin typeface="Segoe UI"/>
                        </a:rPr>
                        <a:t>без изменения алгоритма</a:t>
                      </a:r>
                      <a:r>
                        <a:rPr sz="1162" b="0">
                          <a:solidFill>
                            <a:srgbClr val="3A4358"/>
                          </a:solidFill>
                          <a:latin typeface="Segoe UI"/>
                        </a:rPr>
                        <a:t> и убеждаемся в полном совпадении, только потом включаем пакетный расчет</a:t>
                      </a:r>
                    </a:p>
                  </a:txBody>
                  <a:tcPr marL="133350" marR="114300" marT="85725" marB="85725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2" b="0">
                          <a:solidFill>
                            <a:srgbClr val="3A4358"/>
                          </a:solidFill>
                          <a:latin typeface="Segoe UI"/>
                        </a:rPr>
                        <a:t>Третий этап не запущен</a:t>
                      </a:r>
                    </a:p>
                  </a:txBody>
                  <a:tcPr marL="133350" marR="114300" marT="85725" marB="85725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2" b="0">
                          <a:solidFill>
                            <a:srgbClr val="3A4358"/>
                          </a:solidFill>
                          <a:latin typeface="Segoe UI"/>
                        </a:rPr>
                        <a:t>Автоматический последовательный запуск и отражение невыполненной операции в мониторе. Расчет можно доформировать отдельно, не повторяя все закрытие</a:t>
                      </a:r>
                    </a:p>
                  </a:txBody>
                  <a:tcPr marL="133350" marR="114300" marT="85725" marB="85725" anchor="ctr">
                    <a:solidFill>
                      <a:srgbClr val="F7F9FC"/>
                    </a:solidFill>
                  </a:tcPr>
                </a:tc>
              </a:tr>
              <a:tr h="647700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2" b="0">
                          <a:solidFill>
                            <a:srgbClr val="3A4358"/>
                          </a:solidFill>
                          <a:latin typeface="Segoe UI"/>
                        </a:rPr>
                        <a:t>Повторный прогон без пересчета показателей</a:t>
                      </a:r>
                    </a:p>
                  </a:txBody>
                  <a:tcPr marL="13335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2" b="0">
                          <a:solidFill>
                            <a:srgbClr val="3A4358"/>
                          </a:solidFill>
                          <a:latin typeface="Segoe UI"/>
                        </a:rPr>
                        <a:t>Программная связка: при перезапуске вечерних операций по договору показатели помечаются к пересчету</a:t>
                      </a:r>
                    </a:p>
                  </a:txBody>
                  <a:tcPr marL="133350" marR="114300" marT="85725" marB="85725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2" b="0">
                          <a:solidFill>
                            <a:srgbClr val="3A4358"/>
                          </a:solidFill>
                          <a:latin typeface="Segoe UI"/>
                        </a:rPr>
                        <a:t>Выигрыш меньше ожидаемого</a:t>
                      </a:r>
                    </a:p>
                  </a:txBody>
                  <a:tcPr marL="133350" marR="114300" marT="85725" marB="85725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2" b="0">
                          <a:solidFill>
                            <a:srgbClr val="3A4358"/>
                          </a:solidFill>
                          <a:latin typeface="Segoe UI"/>
                        </a:rPr>
                        <a:t>Замер выполняется до разработки, решение "делаем или не делаем" принимается по факту</a:t>
                      </a:r>
                    </a:p>
                  </a:txBody>
                  <a:tcPr marL="133350" marR="114300" marT="85725" marB="85725" anchor="ctr">
                    <a:solidFill>
                      <a:srgbClr val="F7F9FC"/>
                    </a:solidFill>
                  </a:tcPr>
                </a:tc>
              </a:tr>
              <a:tr h="647700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2" b="0">
                          <a:solidFill>
                            <a:srgbClr val="3A4358"/>
                          </a:solidFill>
                          <a:latin typeface="Segoe UI"/>
                        </a:rPr>
                        <a:t>Потребуется откат</a:t>
                      </a:r>
                    </a:p>
                  </a:txBody>
                  <a:tcPr marL="13335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2" b="0">
                          <a:solidFill>
                            <a:srgbClr val="3A4358"/>
                          </a:solidFill>
                          <a:latin typeface="Segoe UI"/>
                        </a:rPr>
                        <a:t>Откат — это возврат операций в вечерний этап, то есть </a:t>
                      </a:r>
                      <a:r>
                        <a:rPr sz="1162" b="1">
                          <a:solidFill>
                            <a:srgbClr val="33405C"/>
                          </a:solidFill>
                          <a:latin typeface="Segoe UI"/>
                        </a:rPr>
                        <a:t>изменение настройки</a:t>
                      </a:r>
                      <a:r>
                        <a:rPr sz="1162" b="0">
                          <a:solidFill>
                            <a:srgbClr val="3A4358"/>
                          </a:solidFill>
                          <a:latin typeface="Segoe UI"/>
                        </a:rPr>
                        <a:t>, а не переустановка доработки</a:t>
                      </a:r>
                    </a:p>
                  </a:txBody>
                  <a:tcPr marL="133350" marR="114300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1171" y="381000"/>
            <a:ext cx="1197429" cy="285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0550" y="3619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60" cap="all">
                <a:solidFill>
                  <a:srgbClr val="A8B1C4"/>
                </a:solidFill>
                <a:latin typeface="Segoe UI"/>
              </a:rPr>
              <a:t>План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0550" y="590550"/>
            <a:ext cx="1028700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33405C"/>
                </a:solidFill>
                <a:latin typeface="Segoe UI"/>
              </a:rPr>
              <a:t>Четыре этапа с контролем результата на каждом</a:t>
            </a:r>
          </a:p>
        </p:txBody>
      </p:sp>
      <p:sp>
        <p:nvSpPr>
          <p:cNvPr id="5" name="Rectangle 4"/>
          <p:cNvSpPr/>
          <p:nvPr/>
        </p:nvSpPr>
        <p:spPr>
          <a:xfrm>
            <a:off x="590550" y="1123950"/>
            <a:ext cx="704850" cy="38100"/>
          </a:xfrm>
          <a:prstGeom prst="rect">
            <a:avLst/>
          </a:prstGeom>
          <a:solidFill>
            <a:srgbClr val="8DB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753600" y="64389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 spc="100">
                <a:solidFill>
                  <a:srgbClr val="A8B1C4"/>
                </a:solidFill>
                <a:latin typeface="Segoe UI"/>
              </a:rPr>
              <a:t>13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8700" y="2371725"/>
            <a:ext cx="2143125" cy="19050"/>
          </a:xfrm>
          <a:prstGeom prst="rect">
            <a:avLst/>
          </a:prstGeom>
          <a:solidFill>
            <a:srgbClr val="DCE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590550" y="2190750"/>
            <a:ext cx="381000" cy="381000"/>
          </a:xfrm>
          <a:prstGeom prst="ellipse">
            <a:avLst/>
          </a:prstGeom>
          <a:solidFill>
            <a:srgbClr val="526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90550" y="2286000"/>
            <a:ext cx="381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0550" y="2724150"/>
            <a:ext cx="2543175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>
                <a:solidFill>
                  <a:srgbClr val="33405C"/>
                </a:solidFill>
                <a:latin typeface="Segoe UI"/>
              </a:rPr>
              <a:t>Замер и анализ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0550" y="3181350"/>
            <a:ext cx="2543175" cy="1428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087" b="0">
                <a:solidFill>
                  <a:srgbClr val="3A4358"/>
                </a:solidFill>
                <a:latin typeface="Segoe UI"/>
              </a:rPr>
              <a:t>Измеряем фактическую долю расчета СЧА/РСА в общем времени прогона, анализируем настройки договоров. Итог — цифра ожидаемого выигрыша и решение о продолжении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81425" y="2371725"/>
            <a:ext cx="2143125" cy="19050"/>
          </a:xfrm>
          <a:prstGeom prst="rect">
            <a:avLst/>
          </a:prstGeom>
          <a:solidFill>
            <a:srgbClr val="DCE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3343275" y="2190750"/>
            <a:ext cx="381000" cy="381000"/>
          </a:xfrm>
          <a:prstGeom prst="ellipse">
            <a:avLst/>
          </a:prstGeom>
          <a:solidFill>
            <a:srgbClr val="526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343275" y="2286000"/>
            <a:ext cx="381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43275" y="2724150"/>
            <a:ext cx="2543175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>
                <a:solidFill>
                  <a:srgbClr val="33405C"/>
                </a:solidFill>
                <a:latin typeface="Segoe UI"/>
              </a:rPr>
              <a:t>Перенос в отдельный этап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43275" y="3181350"/>
            <a:ext cx="2543175" cy="1428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087" b="0">
                <a:solidFill>
                  <a:srgbClr val="3A4358"/>
                </a:solidFill>
                <a:latin typeface="Segoe UI"/>
              </a:rPr>
              <a:t>Создаем третий этап и переносим в него операции, алгоритм расчета не трогаем. Итог — суммы совпадают с текущими полностью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34150" y="2371725"/>
            <a:ext cx="2143125" cy="19050"/>
          </a:xfrm>
          <a:prstGeom prst="rect">
            <a:avLst/>
          </a:prstGeom>
          <a:solidFill>
            <a:srgbClr val="DCE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6096000" y="2190750"/>
            <a:ext cx="381000" cy="381000"/>
          </a:xfrm>
          <a:prstGeom prst="ellipse">
            <a:avLst/>
          </a:prstGeom>
          <a:solidFill>
            <a:srgbClr val="526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096000" y="2286000"/>
            <a:ext cx="381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0" y="2724150"/>
            <a:ext cx="2543175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>
                <a:solidFill>
                  <a:srgbClr val="33405C"/>
                </a:solidFill>
                <a:latin typeface="Segoe UI"/>
              </a:rPr>
              <a:t>Включение пакетного расчета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0" y="3181350"/>
            <a:ext cx="2543175" cy="1428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087" b="0">
                <a:solidFill>
                  <a:srgbClr val="3A4358"/>
                </a:solidFill>
                <a:latin typeface="Segoe UI"/>
              </a:rPr>
              <a:t>Включаем групповой расчет по однотипным договорам. Итог — сокращение времени этапа при тех же суммах</a:t>
            </a:r>
          </a:p>
        </p:txBody>
      </p:sp>
      <p:sp>
        <p:nvSpPr>
          <p:cNvPr id="22" name="Oval 21"/>
          <p:cNvSpPr/>
          <p:nvPr/>
        </p:nvSpPr>
        <p:spPr>
          <a:xfrm>
            <a:off x="8848725" y="2190750"/>
            <a:ext cx="381000" cy="381000"/>
          </a:xfrm>
          <a:prstGeom prst="ellipse">
            <a:avLst/>
          </a:prstGeom>
          <a:solidFill>
            <a:srgbClr val="526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848725" y="2286000"/>
            <a:ext cx="381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48725" y="2724150"/>
            <a:ext cx="2543175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>
                <a:solidFill>
                  <a:srgbClr val="33405C"/>
                </a:solidFill>
                <a:latin typeface="Segoe UI"/>
              </a:rPr>
              <a:t>Регресс и сверка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48725" y="3181350"/>
            <a:ext cx="2543175" cy="1428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087" b="0">
                <a:solidFill>
                  <a:srgbClr val="3A4358"/>
                </a:solidFill>
                <a:latin typeface="Segoe UI"/>
              </a:rPr>
              <a:t>Прогон и сверка на копии продуктива, итоговый замер. Итог — протоколы сверки и замеров, готовность к переносу на продуктив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0550" y="4724400"/>
            <a:ext cx="11010900" cy="800100"/>
          </a:xfrm>
          <a:prstGeom prst="rect">
            <a:avLst/>
          </a:prstGeom>
          <a:solidFill>
            <a:srgbClr val="DC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90550" y="4724400"/>
            <a:ext cx="47625" cy="800100"/>
          </a:xfrm>
          <a:prstGeom prst="rect">
            <a:avLst/>
          </a:prstGeom>
          <a:solidFill>
            <a:srgbClr val="8DB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81050" y="4867275"/>
            <a:ext cx="10629900" cy="552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3A4358"/>
                </a:solidFill>
                <a:latin typeface="Segoe UI"/>
              </a:rPr>
              <a:t>Оценку трудозатрат представим после согласования подхода: объем работ по третьему этапу зависит от результатов анализа настроек договоров на первом этапе.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1171" y="381000"/>
            <a:ext cx="1197429" cy="285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0550" y="3619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60" cap="all">
                <a:solidFill>
                  <a:srgbClr val="A8B1C4"/>
                </a:solidFill>
                <a:latin typeface="Segoe UI"/>
              </a:rPr>
              <a:t>Решение за вами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0550" y="590550"/>
            <a:ext cx="1028700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33405C"/>
                </a:solidFill>
                <a:latin typeface="Segoe UI"/>
              </a:rPr>
              <a:t>Что требуется от бизнес-заказчика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0550" y="1123950"/>
            <a:ext cx="704850" cy="38100"/>
          </a:xfrm>
          <a:prstGeom prst="rect">
            <a:avLst/>
          </a:prstGeom>
          <a:solidFill>
            <a:srgbClr val="8DB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753600" y="64389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 spc="100">
                <a:solidFill>
                  <a:srgbClr val="A8B1C4"/>
                </a:solidFill>
                <a:latin typeface="Segoe UI"/>
              </a:rPr>
              <a:t>14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90550" y="1809750"/>
            <a:ext cx="11010900" cy="914400"/>
          </a:xfrm>
          <a:prstGeom prst="rect">
            <a:avLst/>
          </a:prstGeom>
          <a:solidFill>
            <a:srgbClr val="FBF4E2"/>
          </a:solidFill>
          <a:ln w="9525">
            <a:solidFill>
              <a:srgbClr val="E8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90550" y="1809750"/>
            <a:ext cx="57150" cy="914400"/>
          </a:xfrm>
          <a:prstGeom prst="rect">
            <a:avLst/>
          </a:prstGeom>
          <a:solidFill>
            <a:srgbClr val="B98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800100" y="2114550"/>
            <a:ext cx="304800" cy="304800"/>
          </a:xfrm>
          <a:prstGeom prst="ellipse">
            <a:avLst/>
          </a:prstGeom>
          <a:solidFill>
            <a:srgbClr val="B98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00100" y="2190750"/>
            <a:ext cx="3048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7300" y="2038350"/>
            <a:ext cx="100965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6E5313"/>
                </a:solidFill>
                <a:latin typeface="Segoe UI"/>
              </a:rPr>
              <a:t>Согласовать появление третьего этапа закрытия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62" b="0">
                <a:solidFill>
                  <a:srgbClr val="4B4535"/>
                </a:solidFill>
                <a:latin typeface="Segoe UI"/>
              </a:rPr>
              <a:t>И, как следствие, третьего документа плана регламентных операций по договору за день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0550" y="2857500"/>
            <a:ext cx="11010900" cy="914400"/>
          </a:xfrm>
          <a:prstGeom prst="rect">
            <a:avLst/>
          </a:prstGeom>
          <a:solidFill>
            <a:srgbClr val="FBF4E2"/>
          </a:solidFill>
          <a:ln w="9525">
            <a:solidFill>
              <a:srgbClr val="E8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90550" y="2857500"/>
            <a:ext cx="57150" cy="914400"/>
          </a:xfrm>
          <a:prstGeom prst="rect">
            <a:avLst/>
          </a:prstGeom>
          <a:solidFill>
            <a:srgbClr val="B98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800100" y="3162300"/>
            <a:ext cx="304800" cy="304800"/>
          </a:xfrm>
          <a:prstGeom prst="ellipse">
            <a:avLst/>
          </a:prstGeom>
          <a:solidFill>
            <a:srgbClr val="B98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0100" y="3238500"/>
            <a:ext cx="3048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7300" y="3086100"/>
            <a:ext cx="100965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6E5313"/>
                </a:solidFill>
                <a:latin typeface="Segoe UI"/>
              </a:rPr>
              <a:t>Подтвердить требование к запуску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62" b="0">
                <a:solidFill>
                  <a:srgbClr val="4B4535"/>
                </a:solidFill>
                <a:latin typeface="Segoe UI"/>
              </a:rPr>
              <a:t>Автоматический последовательный запуск двух этапов одним действием оператора — либо два отдельных запуска по регламенту эксплуатации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0550" y="3905250"/>
            <a:ext cx="11010900" cy="914400"/>
          </a:xfrm>
          <a:prstGeom prst="rect">
            <a:avLst/>
          </a:prstGeom>
          <a:solidFill>
            <a:srgbClr val="FBF4E2"/>
          </a:solidFill>
          <a:ln w="9525">
            <a:solidFill>
              <a:srgbClr val="E8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90550" y="3905250"/>
            <a:ext cx="57150" cy="914400"/>
          </a:xfrm>
          <a:prstGeom prst="rect">
            <a:avLst/>
          </a:prstGeom>
          <a:solidFill>
            <a:srgbClr val="B98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800100" y="4210050"/>
            <a:ext cx="304800" cy="304800"/>
          </a:xfrm>
          <a:prstGeom prst="ellipse">
            <a:avLst/>
          </a:prstGeom>
          <a:solidFill>
            <a:srgbClr val="B98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00100" y="4286250"/>
            <a:ext cx="3048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57300" y="4133850"/>
            <a:ext cx="100965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6E5313"/>
                </a:solidFill>
                <a:latin typeface="Segoe UI"/>
              </a:rPr>
              <a:t>Согласовать окно на копии продуктивной базы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62" b="0">
                <a:solidFill>
                  <a:srgbClr val="4B4535"/>
                </a:solidFill>
                <a:latin typeface="Segoe UI"/>
              </a:rPr>
              <a:t>Для замеров и сверки результатов "до и после"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0550" y="4953000"/>
            <a:ext cx="11010900" cy="914400"/>
          </a:xfrm>
          <a:prstGeom prst="rect">
            <a:avLst/>
          </a:prstGeom>
          <a:solidFill>
            <a:srgbClr val="FBF4E2"/>
          </a:solidFill>
          <a:ln w="9525">
            <a:solidFill>
              <a:srgbClr val="E8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90550" y="4953000"/>
            <a:ext cx="57150" cy="914400"/>
          </a:xfrm>
          <a:prstGeom prst="rect">
            <a:avLst/>
          </a:prstGeom>
          <a:solidFill>
            <a:srgbClr val="B98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800100" y="5257800"/>
            <a:ext cx="304800" cy="304800"/>
          </a:xfrm>
          <a:prstGeom prst="ellipse">
            <a:avLst/>
          </a:prstGeom>
          <a:solidFill>
            <a:srgbClr val="B98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00100" y="5334000"/>
            <a:ext cx="3048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57300" y="5181600"/>
            <a:ext cx="100965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6E5313"/>
                </a:solidFill>
                <a:latin typeface="Segoe UI"/>
              </a:rPr>
              <a:t>Подтвердить критерий приемки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62" b="0">
                <a:solidFill>
                  <a:srgbClr val="4B4535"/>
                </a:solidFill>
                <a:latin typeface="Segoe UI"/>
              </a:rPr>
              <a:t>Полное совпадение сумм СЧА и РСА по всем договорам за контрольный день при сокращении времени этапа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1171" y="381000"/>
            <a:ext cx="1197429" cy="285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0550" y="3619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60" cap="all">
                <a:solidFill>
                  <a:srgbClr val="A8B1C4"/>
                </a:solidFill>
                <a:latin typeface="Segoe UI"/>
              </a:rPr>
              <a:t>Техническое приложение 1 из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0550" y="590550"/>
            <a:ext cx="1028700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33405C"/>
                </a:solidFill>
                <a:latin typeface="Segoe UI"/>
              </a:rPr>
              <a:t>Суть решения для отдела разработки</a:t>
            </a:r>
          </a:p>
        </p:txBody>
      </p:sp>
      <p:sp>
        <p:nvSpPr>
          <p:cNvPr id="5" name="Rectangle 4"/>
          <p:cNvSpPr/>
          <p:nvPr/>
        </p:nvSpPr>
        <p:spPr>
          <a:xfrm>
            <a:off x="590550" y="1123950"/>
            <a:ext cx="704850" cy="38100"/>
          </a:xfrm>
          <a:prstGeom prst="rect">
            <a:avLst/>
          </a:prstGeom>
          <a:solidFill>
            <a:srgbClr val="8DB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753600" y="64389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 spc="100">
                <a:solidFill>
                  <a:srgbClr val="A8B1C4"/>
                </a:solidFill>
                <a:latin typeface="Segoe UI"/>
              </a:rPr>
              <a:t>15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90550" y="1866900"/>
            <a:ext cx="5429250" cy="3143250"/>
          </a:xfrm>
          <a:prstGeom prst="rect">
            <a:avLst/>
          </a:prstGeom>
          <a:solidFill>
            <a:srgbClr val="F3F5F8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90550" y="1866900"/>
            <a:ext cx="5429250" cy="38100"/>
          </a:xfrm>
          <a:prstGeom prst="rect">
            <a:avLst/>
          </a:prstGeom>
          <a:solidFill>
            <a:srgbClr val="526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0100" y="2095500"/>
            <a:ext cx="501015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25" b="1">
                <a:solidFill>
                  <a:srgbClr val="33405C"/>
                </a:solidFill>
                <a:latin typeface="Segoe UI"/>
              </a:rPr>
              <a:t>Часть A. Отдельная группа операций (второй проход)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2533650"/>
            <a:ext cx="501015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3A4358"/>
                </a:solidFill>
                <a:latin typeface="Segoe UI"/>
              </a:rPr>
              <a:t>Создается группа </a:t>
            </a:r>
            <a:r>
              <a:rPr sz="1200" b="0">
                <a:solidFill>
                  <a:srgbClr val="3A4358"/>
                </a:solidFill>
                <a:latin typeface="Consolas"/>
              </a:rPr>
              <a:t>3. "Расчет СЧА/РСА"</a:t>
            </a:r>
            <a:r>
              <a:rPr sz="1200" b="0">
                <a:solidFill>
                  <a:srgbClr val="3A4358"/>
                </a:solidFill>
                <a:latin typeface="Segoe UI"/>
              </a:rPr>
              <a:t>, в нее переносятся пять видов операций: расчет СЧА, расчет РСА, доходность портфеля, контроль уменьшения стоимости, контроль уровня рисков.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3405C"/>
                </a:solidFill>
                <a:latin typeface="Segoe UI"/>
              </a:rPr>
              <a:t>Ключевой факт:</a:t>
            </a:r>
            <a:r>
              <a:rPr sz="1200" b="0">
                <a:solidFill>
                  <a:srgbClr val="3A4358"/>
                </a:solidFill>
                <a:latin typeface="Segoe UI"/>
              </a:rPr>
              <a:t> привязка вида операции к группе хранится в иерархии справочника </a:t>
            </a:r>
            <a:r>
              <a:rPr sz="1200" b="0">
                <a:solidFill>
                  <a:srgbClr val="3A4358"/>
                </a:solidFill>
                <a:latin typeface="Consolas"/>
              </a:rPr>
              <a:t>ВидыОперацийЗакрытияПериода</a:t>
            </a:r>
            <a:r>
              <a:rPr sz="1200" b="0">
                <a:solidFill>
                  <a:srgbClr val="3A4358"/>
                </a:solidFill>
                <a:latin typeface="Segoe UI"/>
              </a:rPr>
              <a:t>, а не в разрезе договоров. Перенос — это смена реквизита </a:t>
            </a:r>
            <a:r>
              <a:rPr sz="1200" b="0">
                <a:solidFill>
                  <a:srgbClr val="3A4358"/>
                </a:solidFill>
                <a:latin typeface="Consolas"/>
              </a:rPr>
              <a:t>Родитель</a:t>
            </a:r>
            <a:r>
              <a:rPr sz="1200" b="0">
                <a:solidFill>
                  <a:srgbClr val="3A4358"/>
                </a:solidFill>
                <a:latin typeface="Segoe UI"/>
              </a:rPr>
              <a:t> у пяти предопределенных элементов. Миграция настроек по 22 000 договоров не требуется, индивидуальная периодичность сохраняется.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866900"/>
            <a:ext cx="5429250" cy="3143250"/>
          </a:xfrm>
          <a:prstGeom prst="rect">
            <a:avLst/>
          </a:prstGeom>
          <a:solidFill>
            <a:srgbClr val="F3F5F8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172200" y="1866900"/>
            <a:ext cx="5429250" cy="38100"/>
          </a:xfrm>
          <a:prstGeom prst="rect">
            <a:avLst/>
          </a:prstGeom>
          <a:solidFill>
            <a:srgbClr val="8DB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81750" y="2095500"/>
            <a:ext cx="501015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25" b="1">
                <a:solidFill>
                  <a:srgbClr val="33405C"/>
                </a:solidFill>
                <a:latin typeface="Segoe UI"/>
              </a:rPr>
              <a:t>Часть D1. Группировка по сигнатуре параметров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1750" y="2533650"/>
            <a:ext cx="501015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3A4358"/>
                </a:solidFill>
                <a:latin typeface="Segoe UI"/>
              </a:rPr>
              <a:t>Тело запроса не переписывается. Отбор </a:t>
            </a:r>
            <a:r>
              <a:rPr sz="1200" b="0">
                <a:solidFill>
                  <a:srgbClr val="3A4358"/>
                </a:solidFill>
                <a:latin typeface="Consolas"/>
              </a:rPr>
              <a:t>ДоговорДУ = &amp;ДоговорДУ</a:t>
            </a:r>
            <a:r>
              <a:rPr sz="1200" b="0">
                <a:solidFill>
                  <a:srgbClr val="3A4358"/>
                </a:solidFill>
                <a:latin typeface="Segoe UI"/>
              </a:rPr>
              <a:t> заменяется на </a:t>
            </a:r>
            <a:r>
              <a:rPr sz="1200" b="0">
                <a:solidFill>
                  <a:srgbClr val="3A4358"/>
                </a:solidFill>
                <a:latin typeface="Consolas"/>
              </a:rPr>
              <a:t>ДоговорДУ В (&amp;ДоговорыГруппы)</a:t>
            </a:r>
            <a:r>
              <a:rPr sz="1200" b="0">
                <a:solidFill>
                  <a:srgbClr val="3A4358"/>
                </a:solidFill>
                <a:latin typeface="Segoe UI"/>
              </a:rPr>
              <a:t>, договор добавляется в выборку и группировку.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A4358"/>
                </a:solidFill>
                <a:latin typeface="Segoe UI"/>
              </a:rPr>
              <a:t>Группы формируются по 9 параметрам учетной политики, влияющим на состав счетов и регистров. Теоретический максимум: 12 групп по БУ, 32 по УУ. Для розничных портфелей ожидается 1-3 группы. Расчет выполняется пачками договоров — ограничение по памяти.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0550" y="5257800"/>
            <a:ext cx="11010900" cy="914400"/>
          </a:xfrm>
          <a:prstGeom prst="rect">
            <a:avLst/>
          </a:prstGeom>
          <a:solidFill>
            <a:srgbClr val="DC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90550" y="5257800"/>
            <a:ext cx="47625" cy="914400"/>
          </a:xfrm>
          <a:prstGeom prst="rect">
            <a:avLst/>
          </a:prstGeom>
          <a:solidFill>
            <a:srgbClr val="8DB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81050" y="5400675"/>
            <a:ext cx="1062990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3A4358"/>
                </a:solidFill>
                <a:latin typeface="Segoe UI"/>
              </a:rPr>
              <a:t>Готовые таблицы доезжают до операции штатным каналом: предподготовка данных перед циклом плюс седьмой параметр исполняемой процедуры. Многопоточность, обработка отказов и регистрация исполнения операций остаются без изменений.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1171" y="381000"/>
            <a:ext cx="1197429" cy="285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0550" y="3619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60" cap="all">
                <a:solidFill>
                  <a:srgbClr val="A8B1C4"/>
                </a:solidFill>
                <a:latin typeface="Segoe UI"/>
              </a:rPr>
              <a:t>Техническое приложение 2 из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0550" y="590550"/>
            <a:ext cx="1028700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33405C"/>
                </a:solidFill>
                <a:latin typeface="Segoe UI"/>
              </a:rPr>
              <a:t>Результаты проверки технической возможности</a:t>
            </a:r>
          </a:p>
        </p:txBody>
      </p:sp>
      <p:sp>
        <p:nvSpPr>
          <p:cNvPr id="5" name="Rectangle 4"/>
          <p:cNvSpPr/>
          <p:nvPr/>
        </p:nvSpPr>
        <p:spPr>
          <a:xfrm>
            <a:off x="590550" y="1123950"/>
            <a:ext cx="704850" cy="38100"/>
          </a:xfrm>
          <a:prstGeom prst="rect">
            <a:avLst/>
          </a:prstGeom>
          <a:solidFill>
            <a:srgbClr val="8DB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753600" y="64389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 spc="100">
                <a:solidFill>
                  <a:srgbClr val="A8B1C4"/>
                </a:solidFill>
                <a:latin typeface="Segoe UI"/>
              </a:rPr>
              <a:t>16 /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0550" y="1771650"/>
          <a:ext cx="11010900" cy="28575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065014"/>
                <a:gridCol w="5945886"/>
              </a:tblGrid>
              <a:tr h="476250">
                <a:tc>
                  <a:txBody>
                    <a:bodyPr wrap="square"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</a:rPr>
                        <a:t>Проверка по исходным текстам конфигурации</a:t>
                      </a:r>
                    </a:p>
                  </a:txBody>
                  <a:tcPr marL="133350" marR="114300" marT="85725" marB="85725" anchor="ctr">
                    <a:solidFill>
                      <a:srgbClr val="3340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</a:rPr>
                        <a:t>Результат</a:t>
                      </a:r>
                    </a:p>
                  </a:txBody>
                  <a:tcPr marL="133350" marR="114300" marT="85725" marB="85725" anchor="ctr">
                    <a:solidFill>
                      <a:srgbClr val="33405C"/>
                    </a:solidFill>
                  </a:tcPr>
                </a:tc>
              </a:tr>
              <a:tr h="476250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2" b="0">
                          <a:solidFill>
                            <a:srgbClr val="3A4358"/>
                          </a:solidFill>
                          <a:latin typeface="Segoe UI"/>
                        </a:rPr>
                        <a:t>Несколько планов операций на договор в день</a:t>
                      </a:r>
                    </a:p>
                  </a:txBody>
                  <a:tcPr marL="13335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2" b="0">
                          <a:solidFill>
                            <a:srgbClr val="3A4358"/>
                          </a:solidFill>
                          <a:latin typeface="Segoe UI"/>
                        </a:rPr>
                        <a:t>Допустимо штатно: уникальность контролируется в разрезе даты, договора </a:t>
                      </a:r>
                      <a:r>
                        <a:rPr sz="1162" b="1">
                          <a:solidFill>
                            <a:srgbClr val="33405C"/>
                          </a:solidFill>
                          <a:latin typeface="Segoe UI"/>
                        </a:rPr>
                        <a:t>и группы операций</a:t>
                      </a:r>
                    </a:p>
                  </a:txBody>
                  <a:tcPr marL="133350" marR="114300" marT="85725" marB="85725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2" b="0">
                          <a:solidFill>
                            <a:srgbClr val="3A4358"/>
                          </a:solidFill>
                          <a:latin typeface="Segoe UI"/>
                        </a:rPr>
                        <a:t>Сдвиг даты документов расчета</a:t>
                      </a:r>
                    </a:p>
                  </a:txBody>
                  <a:tcPr marL="133350" marR="114300" marT="85725" marB="85725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2" b="0">
                          <a:solidFill>
                            <a:srgbClr val="3A4358"/>
                          </a:solidFill>
                          <a:latin typeface="Segoe UI"/>
                        </a:rPr>
                        <a:t>Не происходит: дата привязана к окончанию рабочего дня, от момента расчета не зависит</a:t>
                      </a:r>
                    </a:p>
                  </a:txBody>
                  <a:tcPr marL="133350" marR="114300" marT="85725" marB="85725" anchor="ctr">
                    <a:solidFill>
                      <a:srgbClr val="F7F9FC"/>
                    </a:solidFill>
                  </a:tcPr>
                </a:tc>
              </a:tr>
              <a:tr h="476250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2" b="0">
                          <a:solidFill>
                            <a:srgbClr val="3A4358"/>
                          </a:solidFill>
                          <a:latin typeface="Segoe UI"/>
                        </a:rPr>
                        <a:t>Влияние операций 1000-1030 на входные данные расчета</a:t>
                      </a:r>
                    </a:p>
                  </a:txBody>
                  <a:tcPr marL="13335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2" b="0">
                          <a:solidFill>
                            <a:srgbClr val="3A4358"/>
                          </a:solidFill>
                          <a:latin typeface="Segoe UI"/>
                        </a:rPr>
                        <a:t>Отсутствует: регистр бухгалтерии и регистры накопления УУ они не затрагивают, поэтому предподготовка второго прохода корректна</a:t>
                      </a:r>
                    </a:p>
                  </a:txBody>
                  <a:tcPr marL="133350" marR="114300" marT="85725" marB="85725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2" b="0">
                          <a:solidFill>
                            <a:srgbClr val="3A4358"/>
                          </a:solidFill>
                          <a:latin typeface="Segoe UI"/>
                        </a:rPr>
                        <a:t>Зависимость контрольных операций от результата расчета</a:t>
                      </a:r>
                    </a:p>
                  </a:txBody>
                  <a:tcPr marL="133350" marR="114300" marT="85725" marB="85725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2" b="0">
                          <a:solidFill>
                            <a:srgbClr val="3A4358"/>
                          </a:solidFill>
                          <a:latin typeface="Segoe UI"/>
                        </a:rPr>
                        <a:t>Есть, поэтому переносятся вместе. Порядок внутри группы сохраняется</a:t>
                      </a:r>
                    </a:p>
                  </a:txBody>
                  <a:tcPr marL="133350" marR="114300" marT="85725" marB="85725" anchor="ctr">
                    <a:solidFill>
                      <a:srgbClr val="F7F9FC"/>
                    </a:solidFill>
                  </a:tcPr>
                </a:tc>
              </a:tr>
              <a:tr h="476250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2" b="0">
                          <a:solidFill>
                            <a:srgbClr val="3A4358"/>
                          </a:solidFill>
                          <a:latin typeface="Segoe UI"/>
                        </a:rPr>
                        <a:t>Отображение новой группы в интерфейсе, блокировки, план-факт</a:t>
                      </a:r>
                    </a:p>
                  </a:txBody>
                  <a:tcPr marL="13335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2" b="0">
                          <a:solidFill>
                            <a:srgbClr val="3A4358"/>
                          </a:solidFill>
                          <a:latin typeface="Segoe UI"/>
                        </a:rPr>
                        <a:t>Доработка не требуется, конфликтов нет</a:t>
                      </a:r>
                    </a:p>
                  </a:txBody>
                  <a:tcPr marL="133350" marR="114300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90550" y="5143500"/>
            <a:ext cx="11010900" cy="914400"/>
          </a:xfrm>
          <a:prstGeom prst="rect">
            <a:avLst/>
          </a:prstGeom>
          <a:solidFill>
            <a:srgbClr val="E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90550" y="5143500"/>
            <a:ext cx="47625" cy="914400"/>
          </a:xfrm>
          <a:prstGeom prst="rect">
            <a:avLst/>
          </a:prstGeom>
          <a:solidFill>
            <a:srgbClr val="2E7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81050" y="5286375"/>
            <a:ext cx="1062990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125" b="1">
                <a:solidFill>
                  <a:srgbClr val="24604F"/>
                </a:solidFill>
                <a:latin typeface="Segoe UI"/>
              </a:rPr>
              <a:t>Вывод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A4358"/>
                </a:solidFill>
                <a:latin typeface="Segoe UI"/>
              </a:rPr>
              <a:t>Решение реализуемо </a:t>
            </a:r>
            <a:r>
              <a:rPr sz="1200" b="1">
                <a:solidFill>
                  <a:srgbClr val="33405C"/>
                </a:solidFill>
                <a:latin typeface="Segoe UI"/>
              </a:rPr>
              <a:t>без изменения архитектуры механизма регламентных операций</a:t>
            </a:r>
            <a:r>
              <a:rPr sz="1200" b="0">
                <a:solidFill>
                  <a:srgbClr val="3A4358"/>
                </a:solidFill>
                <a:latin typeface="Segoe UI"/>
              </a:rPr>
              <a:t>. Правки локализованы в предподготовке данных и в расчетном методе менеджера документа. Выполняется расширением конфигурации.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0550" y="6438900"/>
            <a:ext cx="6667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A8B1C4"/>
                </a:solidFill>
                <a:latin typeface="Segoe UI"/>
              </a:rPr>
              <a:t>Подробное описание — в документе proposal_scha_rsa_batch_calculation.html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